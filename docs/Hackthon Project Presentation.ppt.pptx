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83" r:id="rId2"/>
    <p:sldId id="257" r:id="rId3"/>
    <p:sldId id="282" r:id="rId4"/>
    <p:sldId id="259" r:id="rId5"/>
    <p:sldId id="287" r:id="rId6"/>
    <p:sldId id="288" r:id="rId7"/>
    <p:sldId id="278" r:id="rId8"/>
    <p:sldId id="273" r:id="rId9"/>
    <p:sldId id="262" r:id="rId10"/>
    <p:sldId id="281" r:id="rId11"/>
    <p:sldId id="279" r:id="rId12"/>
    <p:sldId id="284" r:id="rId13"/>
    <p:sldId id="285" r:id="rId14"/>
    <p:sldId id="286" r:id="rId15"/>
    <p:sldId id="290" r:id="rId16"/>
    <p:sldId id="291" r:id="rId17"/>
    <p:sldId id="292" r:id="rId18"/>
    <p:sldId id="280" r:id="rId19"/>
    <p:sldId id="277" r:id="rId20"/>
    <p:sldId id="289" r:id="rId21"/>
    <p:sldId id="27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8FFB2C-2409-4D9C-98C5-83A8E5ABB516}" v="4" dt="2026-01-29T15:41:09.921"/>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p:scale>
          <a:sx n="75" d="100"/>
          <a:sy n="75" d="100"/>
        </p:scale>
        <p:origin x="946" y="23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nmayee1225@gmail.com" userId="a7303089d20c6799" providerId="LiveId" clId="{95FD5C90-36A3-4847-89B0-F1A0750D057C}"/>
    <pc:docChg chg="custSel modSld">
      <pc:chgData name="thanmayee1225@gmail.com" userId="a7303089d20c6799" providerId="LiveId" clId="{95FD5C90-36A3-4847-89B0-F1A0750D057C}" dt="2026-01-29T15:41:30.148" v="87" actId="5793"/>
      <pc:docMkLst>
        <pc:docMk/>
      </pc:docMkLst>
      <pc:sldChg chg="addSp delSp modSp mod">
        <pc:chgData name="thanmayee1225@gmail.com" userId="a7303089d20c6799" providerId="LiveId" clId="{95FD5C90-36A3-4847-89B0-F1A0750D057C}" dt="2026-01-29T15:35:08.217" v="34" actId="1076"/>
        <pc:sldMkLst>
          <pc:docMk/>
          <pc:sldMk cId="0" sldId="259"/>
        </pc:sldMkLst>
        <pc:spChg chg="del mod">
          <ac:chgData name="thanmayee1225@gmail.com" userId="a7303089d20c6799" providerId="LiveId" clId="{95FD5C90-36A3-4847-89B0-F1A0750D057C}" dt="2026-01-29T15:30:11.674" v="7"/>
          <ac:spMkLst>
            <pc:docMk/>
            <pc:sldMk cId="0" sldId="259"/>
            <ac:spMk id="2" creationId="{8244C99C-C879-4B03-F7F7-7306F7D33083}"/>
          </ac:spMkLst>
        </pc:spChg>
        <pc:spChg chg="add mod">
          <ac:chgData name="thanmayee1225@gmail.com" userId="a7303089d20c6799" providerId="LiveId" clId="{95FD5C90-36A3-4847-89B0-F1A0750D057C}" dt="2026-01-29T15:35:08.217" v="34" actId="1076"/>
          <ac:spMkLst>
            <pc:docMk/>
            <pc:sldMk cId="0" sldId="259"/>
            <ac:spMk id="6" creationId="{C579C371-DB19-53D2-892B-842469CB3238}"/>
          </ac:spMkLst>
        </pc:spChg>
      </pc:sldChg>
      <pc:sldChg chg="addSp delSp modSp mod">
        <pc:chgData name="thanmayee1225@gmail.com" userId="a7303089d20c6799" providerId="LiveId" clId="{95FD5C90-36A3-4847-89B0-F1A0750D057C}" dt="2026-01-29T15:38:37.007" v="60" actId="20577"/>
        <pc:sldMkLst>
          <pc:docMk/>
          <pc:sldMk cId="1034139590" sldId="287"/>
        </pc:sldMkLst>
        <pc:spChg chg="del">
          <ac:chgData name="thanmayee1225@gmail.com" userId="a7303089d20c6799" providerId="LiveId" clId="{95FD5C90-36A3-4847-89B0-F1A0750D057C}" dt="2026-01-29T15:34:44.910" v="29" actId="478"/>
          <ac:spMkLst>
            <pc:docMk/>
            <pc:sldMk cId="1034139590" sldId="287"/>
            <ac:spMk id="2" creationId="{D6526727-ECCC-12A7-1A74-4C72030B01EA}"/>
          </ac:spMkLst>
        </pc:spChg>
        <pc:spChg chg="add mod">
          <ac:chgData name="thanmayee1225@gmail.com" userId="a7303089d20c6799" providerId="LiveId" clId="{95FD5C90-36A3-4847-89B0-F1A0750D057C}" dt="2026-01-29T15:38:37.007" v="60" actId="20577"/>
          <ac:spMkLst>
            <pc:docMk/>
            <pc:sldMk cId="1034139590" sldId="287"/>
            <ac:spMk id="6" creationId="{4377184F-35CE-7755-89E7-A28DC9EBCF46}"/>
          </ac:spMkLst>
        </pc:spChg>
      </pc:sldChg>
      <pc:sldChg chg="addSp delSp modSp mod">
        <pc:chgData name="thanmayee1225@gmail.com" userId="a7303089d20c6799" providerId="LiveId" clId="{95FD5C90-36A3-4847-89B0-F1A0750D057C}" dt="2026-01-29T15:41:30.148" v="87" actId="5793"/>
        <pc:sldMkLst>
          <pc:docMk/>
          <pc:sldMk cId="4281176502" sldId="288"/>
        </pc:sldMkLst>
        <pc:spChg chg="del">
          <ac:chgData name="thanmayee1225@gmail.com" userId="a7303089d20c6799" providerId="LiveId" clId="{95FD5C90-36A3-4847-89B0-F1A0750D057C}" dt="2026-01-29T15:39:42.786" v="61" actId="478"/>
          <ac:spMkLst>
            <pc:docMk/>
            <pc:sldMk cId="4281176502" sldId="288"/>
            <ac:spMk id="2" creationId="{081273CA-7EF7-F715-EF93-66F231F3ABD1}"/>
          </ac:spMkLst>
        </pc:spChg>
        <pc:spChg chg="add mod">
          <ac:chgData name="thanmayee1225@gmail.com" userId="a7303089d20c6799" providerId="LiveId" clId="{95FD5C90-36A3-4847-89B0-F1A0750D057C}" dt="2026-01-29T15:41:30.148" v="87" actId="5793"/>
          <ac:spMkLst>
            <pc:docMk/>
            <pc:sldMk cId="4281176502" sldId="288"/>
            <ac:spMk id="6" creationId="{98773485-C039-11B8-D4CD-8546ACE8E5F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21241039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3787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00487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xmlns="" id="{7EF10545-1A46-607A-9459-61E8362FA69E}"/>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xmlns="" id="{5957A8EB-ADFD-B035-BD54-1E8A3CB36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xmlns="" id="{A20716EB-D155-31F5-DA5A-E1CD60F5E9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538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xmlns="" id="{F166C2B5-4668-A97F-2B37-43C42F227237}"/>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xmlns="" id="{1DCE13D3-CED5-0A42-C57E-C51AFD2A62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xmlns="" id="{A05A17E4-5523-52B1-27CC-3C3485618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4404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9605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14984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xmlns=""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xmlns=""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xmlns=""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133DCD37-0C3F-12BB-708C-15A0BFB72AB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B3D30803-6188-6E87-DDB6-6562A9E17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DC8AB23-C1B1-CB09-E0BB-C9AAC48979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5224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A63A9C66-2952-903D-83F1-D9F7981B25E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DC0C7460-0316-B69D-13B6-FF07EC57B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0173EAB6-F44B-63ED-F869-2979BED7C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1313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6D9BD954-16FD-FB57-C6A4-EB5D3F15F6B4}"/>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0F3489E1-7724-611B-4E81-BEA0792A2A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D0D8B4C3-8B92-E26F-E1AC-2161B8338F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30805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35F81AA1-D470-94B2-DBAC-B3997B8AE72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BF3C5CFF-BD30-3A5C-BD37-8285A5CF2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D3D9FE95-01C0-4EF5-0973-1DCBDDB3C7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25096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6398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F97BF8-B3EC-77A2-9BFD-D66830272D56}"/>
              </a:ext>
            </a:extLst>
          </p:cNvPr>
          <p:cNvSpPr>
            <a:spLocks noGrp="1"/>
          </p:cNvSpPr>
          <p:nvPr>
            <p:ph type="title"/>
          </p:nvPr>
        </p:nvSpPr>
        <p:spPr/>
        <p:txBody>
          <a:bodyPr>
            <a:normAutofit/>
          </a:bodyPr>
          <a:lstStyle/>
          <a:p>
            <a:pPr algn="ctr"/>
            <a:r>
              <a:rPr lang="en-US" dirty="0" smtClean="0"/>
              <a:t>Agentic AI Hackathon: Building Intelligent Agents with IBM Granite and </a:t>
            </a:r>
            <a:r>
              <a:rPr lang="en-US" dirty="0" err="1" smtClean="0"/>
              <a:t>LangFlow</a:t>
            </a:r>
            <a:endParaRPr lang="en-US" dirty="0"/>
          </a:p>
        </p:txBody>
      </p:sp>
      <p:sp>
        <p:nvSpPr>
          <p:cNvPr id="6" name="Text Placeholder 5"/>
          <p:cNvSpPr>
            <a:spLocks noGrp="1"/>
          </p:cNvSpPr>
          <p:nvPr>
            <p:ph type="body" idx="1"/>
          </p:nvPr>
        </p:nvSpPr>
        <p:spPr/>
        <p:txBody>
          <a:bodyPr/>
          <a:lstStyle/>
          <a:p>
            <a:endParaRPr lang="en-IN"/>
          </a:p>
        </p:txBody>
      </p:sp>
      <p:pic>
        <p:nvPicPr>
          <p:cNvPr id="4" name="Picture 3">
            <a:extLst>
              <a:ext uri="{FF2B5EF4-FFF2-40B4-BE49-F238E27FC236}">
                <a16:creationId xmlns:a16="http://schemas.microsoft.com/office/drawing/2014/main" xmlns="" id="{9270813B-BF9E-B61A-92D0-FA37C990652F}"/>
              </a:ext>
            </a:extLst>
          </p:cNvPr>
          <p:cNvPicPr>
            <a:picLocks noChangeAspect="1"/>
          </p:cNvPicPr>
          <p:nvPr/>
        </p:nvPicPr>
        <p:blipFill>
          <a:blip r:embed="rId2"/>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4" name="Google Shape;94;p2"/>
          <p:cNvSpPr txBox="1"/>
          <p:nvPr/>
        </p:nvSpPr>
        <p:spPr>
          <a:xfrm>
            <a:off x="2481943" y="1219200"/>
            <a:ext cx="7301728" cy="27130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500"/>
              <a:buFont typeface="Times New Roman"/>
              <a:buNone/>
            </a:pPr>
            <a:r>
              <a:rPr lang="en-US" sz="3500" b="1" i="0" u="none" strike="noStrike" cap="none" dirty="0">
                <a:solidFill>
                  <a:srgbClr val="002060"/>
                </a:solidFill>
                <a:latin typeface="Times New Roman"/>
                <a:ea typeface="Times New Roman"/>
                <a:cs typeface="Times New Roman"/>
                <a:sym typeface="Times New Roman"/>
              </a:rPr>
              <a:t>Name of the team:  </a:t>
            </a:r>
            <a:r>
              <a:rPr lang="en-US" sz="3500" b="1" dirty="0" smtClean="0">
                <a:solidFill>
                  <a:srgbClr val="1F3864"/>
                </a:solidFill>
                <a:latin typeface="Times New Roman"/>
                <a:ea typeface="Times New Roman"/>
                <a:cs typeface="Times New Roman"/>
                <a:sym typeface="Times New Roman"/>
              </a:rPr>
              <a:t>GTV</a:t>
            </a:r>
            <a:r>
              <a:rPr lang="en-US" sz="3500" b="1" i="0" u="none" strike="noStrike" cap="none" dirty="0" smtClean="0">
                <a:solidFill>
                  <a:srgbClr val="C00000"/>
                </a:solidFill>
                <a:latin typeface="Times New Roman"/>
                <a:ea typeface="Times New Roman"/>
                <a:cs typeface="Times New Roman"/>
                <a:sym typeface="Times New Roman"/>
              </a:rPr>
              <a:t> </a:t>
            </a:r>
            <a:r>
              <a:rPr lang="en-US" sz="3500" b="1" i="0" u="none" strike="noStrike" cap="none" dirty="0" smtClean="0">
                <a:solidFill>
                  <a:srgbClr val="002060"/>
                </a:solidFill>
                <a:latin typeface="Times New Roman"/>
                <a:ea typeface="Times New Roman"/>
                <a:cs typeface="Times New Roman"/>
                <a:sym typeface="Times New Roman"/>
              </a:rPr>
              <a:t> </a:t>
            </a:r>
            <a:endParaRPr dirty="0"/>
          </a:p>
        </p:txBody>
      </p:sp>
      <p:sp>
        <p:nvSpPr>
          <p:cNvPr id="95" name="Google Shape;95;p2"/>
          <p:cNvSpPr txBox="1"/>
          <p:nvPr/>
        </p:nvSpPr>
        <p:spPr>
          <a:xfrm>
            <a:off x="2190457" y="1490505"/>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r>
              <a:rPr lang="en-US" sz="3200" b="1" i="0" u="none" strike="noStrike" cap="none" dirty="0">
                <a:solidFill>
                  <a:srgbClr val="002060"/>
                </a:solidFill>
                <a:latin typeface="Times New Roman"/>
                <a:ea typeface="Times New Roman"/>
                <a:cs typeface="Times New Roman"/>
                <a:sym typeface="Times New Roman"/>
              </a:rPr>
              <a:t>Details of Team members</a:t>
            </a: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420590386"/>
              </p:ext>
            </p:extLst>
          </p:nvPr>
        </p:nvGraphicFramePr>
        <p:xfrm>
          <a:off x="1596852" y="1942025"/>
          <a:ext cx="7230400" cy="4118535"/>
        </p:xfrm>
        <a:graphic>
          <a:graphicData uri="http://schemas.openxmlformats.org/drawingml/2006/table">
            <a:tbl>
              <a:tblPr>
                <a:noFill/>
                <a:tableStyleId>{0AAD8F4D-43EB-41E5-8A38-28AB6DFB1B60}</a:tableStyleId>
              </a:tblPr>
              <a:tblGrid>
                <a:gridCol w="1589125">
                  <a:extLst>
                    <a:ext uri="{9D8B030D-6E8A-4147-A177-3AD203B41FA5}">
                      <a16:colId xmlns:a16="http://schemas.microsoft.com/office/drawing/2014/main" xmlns="" val="20000"/>
                    </a:ext>
                  </a:extLst>
                </a:gridCol>
                <a:gridCol w="1880425">
                  <a:extLst>
                    <a:ext uri="{9D8B030D-6E8A-4147-A177-3AD203B41FA5}">
                      <a16:colId xmlns:a16="http://schemas.microsoft.com/office/drawing/2014/main" xmlns="" val="20002"/>
                    </a:ext>
                  </a:extLst>
                </a:gridCol>
                <a:gridCol w="1880425">
                  <a:extLst>
                    <a:ext uri="{9D8B030D-6E8A-4147-A177-3AD203B41FA5}">
                      <a16:colId xmlns:a16="http://schemas.microsoft.com/office/drawing/2014/main" xmlns="" val="20003"/>
                    </a:ext>
                  </a:extLst>
                </a:gridCol>
                <a:gridCol w="1880425">
                  <a:extLst>
                    <a:ext uri="{9D8B030D-6E8A-4147-A177-3AD203B41FA5}">
                      <a16:colId xmlns:a16="http://schemas.microsoft.com/office/drawing/2014/main" xmlns="" val="20004"/>
                    </a:ext>
                  </a:extLst>
                </a:gridCol>
              </a:tblGrid>
              <a:tr h="791500">
                <a:tc>
                  <a:txBody>
                    <a:bodyPr/>
                    <a:lstStyle/>
                    <a:p>
                      <a:pPr marL="0" marR="0" lvl="0" indent="0" algn="ctr" rtl="0">
                        <a:spcBef>
                          <a:spcPts val="0"/>
                        </a:spcBef>
                        <a:spcAft>
                          <a:spcPts val="0"/>
                        </a:spcAft>
                        <a:buNone/>
                      </a:pPr>
                      <a:r>
                        <a:rPr lang="en-US" sz="1800" u="none" strike="noStrike" cap="none" dirty="0"/>
                        <a:t>TEAM MEMBER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Email ID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Phone number</a:t>
                      </a:r>
                      <a:endParaRPr/>
                    </a:p>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[WhatsApp]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xmlns="" val="10000"/>
                  </a:ext>
                </a:extLst>
              </a:tr>
              <a:tr h="970950">
                <a:tc>
                  <a:txBody>
                    <a:bodyPr/>
                    <a:lstStyle/>
                    <a:p>
                      <a:pPr marL="0" marR="0" lvl="0" indent="0" algn="l" rtl="0">
                        <a:spcBef>
                          <a:spcPts val="0"/>
                        </a:spcBef>
                        <a:spcAft>
                          <a:spcPts val="0"/>
                        </a:spcAft>
                        <a:buNone/>
                      </a:pPr>
                      <a:r>
                        <a:rPr lang="en-US" dirty="0" smtClean="0"/>
                        <a:t>TEJASHWINI.M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tejutejashwini606@gmail.com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9620338676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xmlns="" val="10001"/>
                  </a:ext>
                </a:extLst>
              </a:tr>
              <a:tr h="1262225">
                <a:tc>
                  <a:txBody>
                    <a:bodyPr/>
                    <a:lstStyle/>
                    <a:p>
                      <a:pPr marL="0" marR="0" lvl="0" indent="0" algn="l" rtl="0">
                        <a:spcBef>
                          <a:spcPts val="0"/>
                        </a:spcBef>
                        <a:spcAft>
                          <a:spcPts val="0"/>
                        </a:spcAft>
                        <a:buNone/>
                      </a:pPr>
                      <a:r>
                        <a:rPr lang="en-US" dirty="0" smtClean="0"/>
                        <a:t>VAISHNAVI.G</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IN" dirty="0" smtClean="0"/>
                        <a:t>vaishnaviyadav470@gmail.com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US" dirty="0" smtClean="0"/>
                        <a:t>8722305428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extLst>
                  <a:ext uri="{0D108BD9-81ED-4DB2-BD59-A6C34878D82A}">
                    <a16:rowId xmlns:a16="http://schemas.microsoft.com/office/drawing/2014/main" xmlns="" val="10002"/>
                  </a:ext>
                </a:extLst>
              </a:tr>
              <a:tr h="970950">
                <a:tc>
                  <a:txBody>
                    <a:bodyPr/>
                    <a:lstStyle/>
                    <a:p>
                      <a:pPr marL="0" marR="0" lvl="0" indent="0" algn="l" rtl="0">
                        <a:spcBef>
                          <a:spcPts val="0"/>
                        </a:spcBef>
                        <a:spcAft>
                          <a:spcPts val="0"/>
                        </a:spcAft>
                        <a:buNone/>
                      </a:pPr>
                      <a:r>
                        <a:rPr lang="en-US" sz="1400" dirty="0" smtClean="0"/>
                        <a:t>PALLAVI.GS</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400" dirty="0" smtClean="0"/>
                        <a:t>gspallavi56@gmail.com</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400" dirty="0" smtClean="0"/>
                        <a:t>7795859262</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xmlns="" val="10003"/>
                  </a:ext>
                </a:extLst>
              </a:tr>
            </a:tbl>
          </a:graphicData>
        </a:graphic>
      </p:graphicFrame>
      <p:pic>
        <p:nvPicPr>
          <p:cNvPr id="4" name="Picture 3">
            <a:extLst>
              <a:ext uri="{FF2B5EF4-FFF2-40B4-BE49-F238E27FC236}">
                <a16:creationId xmlns:a16="http://schemas.microsoft.com/office/drawing/2014/main" xmlns="" id="{93071BE8-5070-42BA-3450-6F0039B8532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t="21599" b="21005"/>
          <a:stretch/>
        </p:blipFill>
        <p:spPr>
          <a:xfrm>
            <a:off x="3413760" y="2824480"/>
            <a:ext cx="1330960" cy="995680"/>
          </a:xfrm>
          <a:prstGeom prst="rect">
            <a:avLst/>
          </a:prstGeom>
        </p:spPr>
      </p:pic>
      <p:pic>
        <p:nvPicPr>
          <p:cNvPr id="5" name="Picture 4"/>
          <p:cNvPicPr>
            <a:picLocks noChangeAspect="1"/>
          </p:cNvPicPr>
          <p:nvPr/>
        </p:nvPicPr>
        <p:blipFill rotWithShape="1">
          <a:blip r:embed="rId5">
            <a:extLst>
              <a:ext uri="{28A0092B-C50C-407E-A947-70E740481C1C}">
                <a14:useLocalDpi xmlns:a14="http://schemas.microsoft.com/office/drawing/2010/main" val="0"/>
              </a:ext>
            </a:extLst>
          </a:blip>
          <a:srcRect l="14003" t="7261" r="21236" b="12000"/>
          <a:stretch/>
        </p:blipFill>
        <p:spPr>
          <a:xfrm>
            <a:off x="3413760" y="3820160"/>
            <a:ext cx="1330960" cy="1249681"/>
          </a:xfrm>
          <a:prstGeom prst="rect">
            <a:avLst/>
          </a:prstGeom>
        </p:spPr>
      </p:pic>
      <p:pic>
        <p:nvPicPr>
          <p:cNvPr id="6" name="Picture 5"/>
          <p:cNvPicPr>
            <a:picLocks noChangeAspect="1"/>
          </p:cNvPicPr>
          <p:nvPr/>
        </p:nvPicPr>
        <p:blipFill rotWithShape="1">
          <a:blip r:embed="rId6">
            <a:extLst>
              <a:ext uri="{28A0092B-C50C-407E-A947-70E740481C1C}">
                <a14:useLocalDpi xmlns:a14="http://schemas.microsoft.com/office/drawing/2010/main" val="0"/>
              </a:ext>
            </a:extLst>
          </a:blip>
          <a:srcRect l="25308" t="42222" r="33407" b="17481"/>
          <a:stretch/>
        </p:blipFill>
        <p:spPr>
          <a:xfrm>
            <a:off x="3413760" y="5069841"/>
            <a:ext cx="1330960" cy="99071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6F6745E-14BA-0766-CE1E-32E29663832D}"/>
              </a:ext>
            </a:extLst>
          </p:cNvPr>
          <p:cNvSpPr txBox="1"/>
          <p:nvPr/>
        </p:nvSpPr>
        <p:spPr>
          <a:xfrm>
            <a:off x="680720" y="843280"/>
            <a:ext cx="8380152" cy="5457179"/>
          </a:xfrm>
          <a:prstGeom prst="rect">
            <a:avLst/>
          </a:prstGeom>
          <a:noFill/>
        </p:spPr>
        <p:txBody>
          <a:bodyPr wrap="square" rtlCol="0">
            <a:spAutoFit/>
          </a:bodyPr>
          <a:lstStyle/>
          <a:p>
            <a:r>
              <a:rPr lang="en-US" b="1" dirty="0"/>
              <a:t>AI-Based Traffic Congestion Monitoring and Alert System</a:t>
            </a:r>
            <a:endParaRPr lang="en-IN" b="1" dirty="0"/>
          </a:p>
          <a:p>
            <a:r>
              <a:rPr lang="en-US" b="1" dirty="0"/>
              <a:t>The Challenge</a:t>
            </a:r>
            <a:endParaRPr lang="en-IN" b="1" dirty="0"/>
          </a:p>
          <a:p>
            <a:r>
              <a:rPr lang="en-US" dirty="0"/>
              <a:t>Urban traffic congestion is influenced by dynamic factors such as vehicle density, peak-hour demand, road incidents, and weather conditions. Traffic management systems collect large volumes of real-time and historical traffic data, but continuous manual analysis is infeasible. This results in delayed identification of congestion buildup and reactive traffic management. There is a need for an intelligent assistive system that can continuously analyze traffic data and identify congestion risks at an early stage.</a:t>
            </a:r>
            <a:endParaRPr lang="en-IN" dirty="0"/>
          </a:p>
          <a:p>
            <a:r>
              <a:rPr lang="en-US" b="1" dirty="0"/>
              <a:t>Traffic Data Analysis Agent</a:t>
            </a:r>
            <a:endParaRPr lang="en-IN" b="1" dirty="0"/>
          </a:p>
          <a:p>
            <a:r>
              <a:rPr lang="en-US" dirty="0"/>
              <a:t>An agent that ingests real-time and historical traffic data including vehicle speed, traffic volume, road occupancy, and incident reports, and organizes them into interpretable traffic trends.</a:t>
            </a:r>
            <a:endParaRPr lang="en-IN" dirty="0"/>
          </a:p>
          <a:p>
            <a:r>
              <a:rPr lang="en-US" b="1" dirty="0"/>
              <a:t>Congestion Trend Detection Agent</a:t>
            </a:r>
            <a:endParaRPr lang="en-IN" b="1" dirty="0"/>
          </a:p>
          <a:p>
            <a:r>
              <a:rPr lang="en-US" dirty="0"/>
              <a:t>An agent that analyzes short-term and long-term traffic patterns to detect abnormal slowdowns, bottlenecks, and congestion formation using historical baselines and threshold-based rules.</a:t>
            </a:r>
            <a:endParaRPr lang="en-IN" dirty="0"/>
          </a:p>
          <a:p>
            <a:r>
              <a:rPr lang="en-US" b="1" dirty="0"/>
              <a:t>Alert &amp; Traffic Advisory Assistant</a:t>
            </a:r>
            <a:endParaRPr lang="en-IN" b="1" dirty="0"/>
          </a:p>
          <a:p>
            <a:r>
              <a:rPr lang="en-US" dirty="0"/>
              <a:t>An agent that generates early congestion alerts and provides route-level traffic advisories (assistive only, non-enforcement).</a:t>
            </a:r>
            <a:endParaRPr lang="en-IN" dirty="0"/>
          </a:p>
          <a:p>
            <a:r>
              <a:rPr lang="en-US" b="1" dirty="0"/>
              <a:t>Outcome</a:t>
            </a:r>
            <a:endParaRPr lang="en-IN" b="1" dirty="0"/>
          </a:p>
          <a:p>
            <a:r>
              <a:rPr lang="en-US" dirty="0"/>
              <a:t>Enable early detection of congestion patterns, improve situational awareness, and supports proactive traffic management.</a:t>
            </a:r>
            <a:endParaRPr lang="en-IN" dirty="0"/>
          </a:p>
          <a:p>
            <a:r>
              <a:rPr lang="en-US" b="1" dirty="0"/>
              <a:t>Mandatory Tech Stack</a:t>
            </a:r>
            <a:endParaRPr lang="en-IN" b="1" dirty="0"/>
          </a:p>
          <a:p>
            <a:r>
              <a:rPr lang="en-US" dirty="0"/>
              <a:t>Lang Flow using IBM Granite Model</a:t>
            </a:r>
            <a:r>
              <a:rPr lang="en-IN" dirty="0"/>
              <a:t/>
            </a:r>
            <a:br>
              <a:rPr lang="en-IN" dirty="0"/>
            </a:br>
            <a:r>
              <a:rPr lang="en-US" dirty="0"/>
              <a:t> (Using RAG on traffic management guidelines, congestion thresholds, and trusted transportation references.)</a:t>
            </a:r>
            <a:endParaRPr lang="en-IN" dirty="0"/>
          </a:p>
          <a:p>
            <a:endParaRPr lang="en-IN" dirty="0"/>
          </a:p>
        </p:txBody>
      </p:sp>
      <p:sp>
        <p:nvSpPr>
          <p:cNvPr id="3" name="TextBox 2">
            <a:extLst>
              <a:ext uri="{FF2B5EF4-FFF2-40B4-BE49-F238E27FC236}">
                <a16:creationId xmlns:a16="http://schemas.microsoft.com/office/drawing/2014/main" xmlns="" id="{9C57FE32-8AA8-E540-E0AA-C9737C71A0E2}"/>
              </a:ext>
            </a:extLst>
          </p:cNvPr>
          <p:cNvSpPr txBox="1"/>
          <p:nvPr/>
        </p:nvSpPr>
        <p:spPr>
          <a:xfrm>
            <a:off x="680720" y="203200"/>
            <a:ext cx="3351176" cy="4775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Problem statement </a:t>
            </a:r>
          </a:p>
        </p:txBody>
      </p:sp>
      <p:pic>
        <p:nvPicPr>
          <p:cNvPr id="5" name="Picture 4">
            <a:extLst>
              <a:ext uri="{FF2B5EF4-FFF2-40B4-BE49-F238E27FC236}">
                <a16:creationId xmlns:a16="http://schemas.microsoft.com/office/drawing/2014/main" xmlns="" id="{E7A64CCA-ED49-69BC-3595-2C1CBD5E6D02}"/>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07698" y="1381761"/>
            <a:ext cx="3182701" cy="2377439"/>
          </a:xfrm>
          <a:prstGeom prst="rect">
            <a:avLst/>
          </a:prstGeom>
          <a:ln>
            <a:solidFill>
              <a:srgbClr val="00B0F0"/>
            </a:solidFill>
          </a:ln>
        </p:spPr>
      </p:pic>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xmlns="" id="{2F548320-B634-92CD-C520-43B25557F859}"/>
              </a:ext>
            </a:extLst>
          </p:cNvPr>
          <p:cNvSpPr txBox="1"/>
          <p:nvPr/>
        </p:nvSpPr>
        <p:spPr>
          <a:xfrm>
            <a:off x="893255" y="741143"/>
            <a:ext cx="45391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Proposed solution </a:t>
            </a:r>
          </a:p>
        </p:txBody>
      </p:sp>
      <p:pic>
        <p:nvPicPr>
          <p:cNvPr id="5" name="Picture 4">
            <a:extLst>
              <a:ext uri="{FF2B5EF4-FFF2-40B4-BE49-F238E27FC236}">
                <a16:creationId xmlns:a16="http://schemas.microsoft.com/office/drawing/2014/main" xmlns="" id="{68EE1157-422B-2DEC-F7BF-0A06B973C983}"/>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6" name="TextBox 5">
            <a:extLst>
              <a:ext uri="{FF2B5EF4-FFF2-40B4-BE49-F238E27FC236}">
                <a16:creationId xmlns:a16="http://schemas.microsoft.com/office/drawing/2014/main" xmlns="" id="{C579C371-DB19-53D2-892B-842469CB3238}"/>
              </a:ext>
            </a:extLst>
          </p:cNvPr>
          <p:cNvSpPr txBox="1"/>
          <p:nvPr/>
        </p:nvSpPr>
        <p:spPr>
          <a:xfrm>
            <a:off x="893255" y="1300481"/>
            <a:ext cx="10882186" cy="4185761"/>
          </a:xfrm>
          <a:prstGeom prst="rect">
            <a:avLst/>
          </a:prstGeom>
          <a:noFill/>
        </p:spPr>
        <p:txBody>
          <a:bodyPr wrap="square">
            <a:spAutoFit/>
          </a:bodyPr>
          <a:lstStyle/>
          <a:p>
            <a:pPr marL="285750" indent="-285750">
              <a:buFont typeface="Arial" panose="020B0604020202020204" pitchFamily="34" charset="0"/>
              <a:buChar char="•"/>
            </a:pPr>
            <a:r>
              <a:rPr lang="en-US" dirty="0"/>
              <a:t>The proposed solution is an AI-driven, multi-agent traffic intelligence system built using IBM </a:t>
            </a:r>
            <a:r>
              <a:rPr lang="en-US" dirty="0" err="1"/>
              <a:t>LangFlow</a:t>
            </a:r>
            <a:r>
              <a:rPr lang="en-US" dirty="0"/>
              <a:t> and IBM Granite models to monitor, analyze, and manage urban traffic congestion in real time</a:t>
            </a:r>
            <a:r>
              <a:rPr lang="en-US" dirty="0" smtClean="0"/>
              <a:t>.</a:t>
            </a:r>
          </a:p>
          <a:p>
            <a:endParaRPr lang="en-US" dirty="0" smtClean="0"/>
          </a:p>
          <a:p>
            <a:pPr marL="285750" indent="-285750">
              <a:buFont typeface="Arial" panose="020B0604020202020204" pitchFamily="34" charset="0"/>
              <a:buChar char="•"/>
            </a:pPr>
            <a:r>
              <a:rPr lang="en-US" dirty="0" smtClean="0"/>
              <a:t>The </a:t>
            </a:r>
            <a:r>
              <a:rPr lang="en-US" dirty="0"/>
              <a:t>system collects traffic data such as vehicle speed, traffic volume, road occupancy, incidents, and weather conditions. </a:t>
            </a:r>
            <a:r>
              <a:rPr lang="en-US" dirty="0" smtClean="0"/>
              <a:t>This </a:t>
            </a:r>
            <a:r>
              <a:rPr lang="en-US" dirty="0"/>
              <a:t>data is processed through multiple intelligent agents, each responsible for a specific task, ensuring modularity, scalability, and accuracy</a:t>
            </a:r>
            <a:r>
              <a:rPr lang="en-US" dirty="0" smtClean="0"/>
              <a:t>.</a:t>
            </a:r>
          </a:p>
          <a:p>
            <a:endParaRPr lang="en-US" dirty="0" smtClean="0"/>
          </a:p>
          <a:p>
            <a:pPr marL="285750" indent="-285750">
              <a:buFont typeface="Arial" panose="020B0604020202020204" pitchFamily="34" charset="0"/>
              <a:buChar char="•"/>
            </a:pPr>
            <a:r>
              <a:rPr lang="en-US" dirty="0" smtClean="0"/>
              <a:t>First</a:t>
            </a:r>
            <a:r>
              <a:rPr lang="en-US" dirty="0"/>
              <a:t>, the Traffic Data Analysis Agent cleans, structures, and summarizes real-time and historical traffic data to identify current traffic conditions. Next, the Congestion Detection and Prediction Agent compares current traffic metrics with historical baselines to detect congestion and predict potential congestion in the near future</a:t>
            </a:r>
            <a:r>
              <a:rPr lang="en-US" dirty="0" smtClean="0"/>
              <a:t>.</a:t>
            </a:r>
          </a:p>
          <a:p>
            <a:endParaRPr lang="en-US" dirty="0" smtClean="0"/>
          </a:p>
          <a:p>
            <a:pPr marL="285750" indent="-285750">
              <a:buFont typeface="Arial" panose="020B0604020202020204" pitchFamily="34" charset="0"/>
              <a:buChar char="•"/>
            </a:pPr>
            <a:r>
              <a:rPr lang="en-US" dirty="0" smtClean="0"/>
              <a:t>An </a:t>
            </a:r>
            <a:r>
              <a:rPr lang="en-US" dirty="0"/>
              <a:t>Incident and Emergency Detection Agent identifies accidents, road blockages, or adverse weather conditions that may impact traffic flow. Based on these insights, the Alert and Advisory Agent generates early traffic warnings and provides route-level advisory suggestions for commuters while prioritizing emergency vehicles when required</a:t>
            </a:r>
            <a:r>
              <a:rPr lang="en-US" dirty="0" smtClean="0"/>
              <a:t>.</a:t>
            </a:r>
          </a:p>
          <a:p>
            <a:endParaRPr lang="en-US" dirty="0" smtClean="0"/>
          </a:p>
          <a:p>
            <a:pPr marL="285750" indent="-285750">
              <a:buFont typeface="Arial" panose="020B0604020202020204" pitchFamily="34" charset="0"/>
              <a:buChar char="•"/>
            </a:pPr>
            <a:r>
              <a:rPr lang="en-US" dirty="0" smtClean="0"/>
              <a:t>Finally</a:t>
            </a:r>
            <a:r>
              <a:rPr lang="en-US" dirty="0"/>
              <a:t>, the City Traffic Insights Agent provides actionable insights for traffic authorities, highlighting recurring congestion zones, peak traffic periods, and recommendations for long-term traffic </a:t>
            </a:r>
            <a:r>
              <a:rPr lang="en-US" dirty="0" smtClean="0"/>
              <a:t>optimization.</a:t>
            </a:r>
          </a:p>
          <a:p>
            <a:endParaRPr lang="en-US" dirty="0" smtClean="0"/>
          </a:p>
          <a:p>
            <a:pPr marL="285750" indent="-285750">
              <a:buFont typeface="Arial" panose="020B0604020202020204" pitchFamily="34" charset="0"/>
              <a:buChar char="•"/>
            </a:pPr>
            <a:r>
              <a:rPr lang="en-US" dirty="0" smtClean="0"/>
              <a:t>This </a:t>
            </a:r>
            <a:r>
              <a:rPr lang="en-US" dirty="0"/>
              <a:t>system enables proactive traffic management, faster emergency response, and reduced travel delays, making it a scalable and intelligent solution for smart city transportation systems.</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xmlns="" id="{A01B5799-6C2E-7FE4-A2C6-734DB0499C95}"/>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xmlns="" id="{4CB905EF-62C2-FD1F-CE05-FBD2CBBD3921}"/>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xmlns="" id="{0A9D9ED1-DFE2-2CB1-E07B-2D3C44A85C9C}"/>
              </a:ext>
            </a:extLst>
          </p:cNvPr>
          <p:cNvSpPr txBox="1"/>
          <p:nvPr/>
        </p:nvSpPr>
        <p:spPr>
          <a:xfrm>
            <a:off x="914400" y="480292"/>
            <a:ext cx="562494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Need of project </a:t>
            </a:r>
          </a:p>
        </p:txBody>
      </p:sp>
      <p:pic>
        <p:nvPicPr>
          <p:cNvPr id="5" name="Picture 4">
            <a:extLst>
              <a:ext uri="{FF2B5EF4-FFF2-40B4-BE49-F238E27FC236}">
                <a16:creationId xmlns:a16="http://schemas.microsoft.com/office/drawing/2014/main" xmlns="" id="{B04F3E9D-0527-2FF2-E87C-9369E2B678CF}"/>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6" name="TextBox 5">
            <a:extLst>
              <a:ext uri="{FF2B5EF4-FFF2-40B4-BE49-F238E27FC236}">
                <a16:creationId xmlns:a16="http://schemas.microsoft.com/office/drawing/2014/main" xmlns="" id="{4377184F-35CE-7755-89E7-A28DC9EBCF46}"/>
              </a:ext>
            </a:extLst>
          </p:cNvPr>
          <p:cNvSpPr txBox="1"/>
          <p:nvPr/>
        </p:nvSpPr>
        <p:spPr>
          <a:xfrm>
            <a:off x="914400" y="997527"/>
            <a:ext cx="10381673" cy="5478423"/>
          </a:xfrm>
          <a:prstGeom prst="rect">
            <a:avLst/>
          </a:prstGeom>
          <a:noFill/>
        </p:spPr>
        <p:txBody>
          <a:bodyPr wrap="square">
            <a:spAutoFit/>
          </a:bodyPr>
          <a:lstStyle/>
          <a:p>
            <a:r>
              <a:rPr lang="en-US" dirty="0"/>
              <a:t>The proposed solution is an AI-based traffic congestion monitoring and alert system implemented using a multi-agent architecture in IBM </a:t>
            </a:r>
            <a:r>
              <a:rPr lang="en-US" dirty="0" err="1"/>
              <a:t>LangFlow</a:t>
            </a:r>
            <a:r>
              <a:rPr lang="en-US" dirty="0"/>
              <a:t> with IBM Granite models. Each agent performs a specific role, and together they provide an end-to-end intelligent traffic management solution</a:t>
            </a:r>
            <a:r>
              <a:rPr lang="en-US" dirty="0" smtClean="0"/>
              <a:t>.</a:t>
            </a:r>
          </a:p>
          <a:p>
            <a:endParaRPr lang="en-US" dirty="0"/>
          </a:p>
          <a:p>
            <a:r>
              <a:rPr lang="en-US" dirty="0"/>
              <a:t>Agent 1: Traffic Data Analysis </a:t>
            </a:r>
            <a:r>
              <a:rPr lang="en-US" dirty="0" err="1"/>
              <a:t>AgentThis</a:t>
            </a:r>
            <a:r>
              <a:rPr lang="en-US" dirty="0"/>
              <a:t> agent is responsible for collecting and analyzing real-time and historical traffic data such as vehicle speed, traffic volume, road occupancy, time, and </a:t>
            </a:r>
            <a:r>
              <a:rPr lang="en-US" dirty="0" err="1"/>
              <a:t>location.It</a:t>
            </a:r>
            <a:r>
              <a:rPr lang="en-US" dirty="0"/>
              <a:t> cleans and structures the data to generate a clear summary of current traffic conditions, which acts as the foundation for further analysis</a:t>
            </a:r>
            <a:r>
              <a:rPr lang="en-US" dirty="0" smtClean="0"/>
              <a:t>.</a:t>
            </a:r>
          </a:p>
          <a:p>
            <a:endParaRPr lang="en-US" dirty="0"/>
          </a:p>
          <a:p>
            <a:r>
              <a:rPr lang="en-US" dirty="0" smtClean="0"/>
              <a:t>Agent </a:t>
            </a:r>
            <a:r>
              <a:rPr lang="en-US" dirty="0"/>
              <a:t>2: Congestion Detection &amp; Prediction </a:t>
            </a:r>
            <a:r>
              <a:rPr lang="en-US" dirty="0" err="1"/>
              <a:t>AgentThis</a:t>
            </a:r>
            <a:r>
              <a:rPr lang="en-US" dirty="0"/>
              <a:t> agent compares the current traffic conditions with historical traffic patterns to detect </a:t>
            </a:r>
            <a:r>
              <a:rPr lang="en-US" dirty="0" err="1"/>
              <a:t>congestion.It</a:t>
            </a:r>
            <a:r>
              <a:rPr lang="en-US" dirty="0"/>
              <a:t> also predicts the risk of congestion in the next 15–30 minutes, enabling early identification of traffic build-up and </a:t>
            </a:r>
            <a:r>
              <a:rPr lang="en-US" dirty="0" smtClean="0"/>
              <a:t>bottlenecks.</a:t>
            </a:r>
          </a:p>
          <a:p>
            <a:endParaRPr lang="en-US" dirty="0"/>
          </a:p>
          <a:p>
            <a:r>
              <a:rPr lang="en-US" dirty="0" smtClean="0"/>
              <a:t>Agent </a:t>
            </a:r>
            <a:r>
              <a:rPr lang="en-US" dirty="0"/>
              <a:t>3: Incident &amp; Emergency Detection </a:t>
            </a:r>
            <a:r>
              <a:rPr lang="en-US" dirty="0" err="1"/>
              <a:t>AgentThis</a:t>
            </a:r>
            <a:r>
              <a:rPr lang="en-US" dirty="0"/>
              <a:t> agent identifies traffic incidents such as accidents, road blockages, and adverse weather </a:t>
            </a:r>
            <a:r>
              <a:rPr lang="en-US" dirty="0" err="1"/>
              <a:t>conditions.It</a:t>
            </a:r>
            <a:r>
              <a:rPr lang="en-US" dirty="0"/>
              <a:t> evaluates how these incidents impact traffic flow and flags emergency-priority situations that require immediate </a:t>
            </a:r>
            <a:r>
              <a:rPr lang="en-US" dirty="0" smtClean="0"/>
              <a:t>attention.</a:t>
            </a:r>
          </a:p>
          <a:p>
            <a:endParaRPr lang="en-US" dirty="0" smtClean="0"/>
          </a:p>
          <a:p>
            <a:r>
              <a:rPr lang="en-US" dirty="0" smtClean="0"/>
              <a:t>Agent </a:t>
            </a:r>
            <a:r>
              <a:rPr lang="en-US" dirty="0"/>
              <a:t>4: Alert &amp; Traffic Advisory </a:t>
            </a:r>
            <a:r>
              <a:rPr lang="en-US" dirty="0" err="1"/>
              <a:t>AgentBased</a:t>
            </a:r>
            <a:r>
              <a:rPr lang="en-US" dirty="0"/>
              <a:t> on congestion and incident insights, this agent generates early traffic alerts for </a:t>
            </a:r>
            <a:r>
              <a:rPr lang="en-US" dirty="0" err="1"/>
              <a:t>commuters.It</a:t>
            </a:r>
            <a:r>
              <a:rPr lang="en-US" dirty="0"/>
              <a:t> provides route-level advisories and alternative path suggestions, and gives priority routing recommendations for emergency vehicles when </a:t>
            </a:r>
            <a:r>
              <a:rPr lang="en-US" dirty="0" smtClean="0"/>
              <a:t>required.</a:t>
            </a:r>
          </a:p>
          <a:p>
            <a:endParaRPr lang="en-US" dirty="0"/>
          </a:p>
          <a:p>
            <a:r>
              <a:rPr lang="en-US" dirty="0" smtClean="0"/>
              <a:t>Agent </a:t>
            </a:r>
            <a:r>
              <a:rPr lang="en-US" dirty="0"/>
              <a:t>5: City Traffic Insights &amp; Decision Support </a:t>
            </a:r>
            <a:r>
              <a:rPr lang="en-US" dirty="0" err="1"/>
              <a:t>AgentThis</a:t>
            </a:r>
            <a:r>
              <a:rPr lang="en-US" dirty="0"/>
              <a:t> agent analyzes long-term traffic and incident trends to generate actionable insights for traffic </a:t>
            </a:r>
            <a:r>
              <a:rPr lang="en-US" dirty="0" err="1"/>
              <a:t>authorities.It</a:t>
            </a:r>
            <a:r>
              <a:rPr lang="en-US" dirty="0"/>
              <a:t> highlights peak congestion zones, recurring bottlenecks, and suggests traffic optimization and planning measures for smarter city management.</a:t>
            </a:r>
            <a:endParaRPr lang="en-US" dirty="0"/>
          </a:p>
          <a:p>
            <a:r>
              <a:rPr lang="en-US" dirty="0"/>
              <a:t/>
            </a:r>
            <a:br>
              <a:rPr lang="en-US" dirty="0"/>
            </a:br>
            <a:endParaRPr lang="en-US" dirty="0"/>
          </a:p>
        </p:txBody>
      </p:sp>
    </p:spTree>
    <p:extLst>
      <p:ext uri="{BB962C8B-B14F-4D97-AF65-F5344CB8AC3E}">
        <p14:creationId xmlns:p14="http://schemas.microsoft.com/office/powerpoint/2010/main" val="1034139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xmlns="" id="{1D21EE38-4FEA-9D7F-68F1-831EDFE1FCF2}"/>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xmlns="" id="{68C1E71E-9159-FD3B-73D2-CC7380E7CB93}"/>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xmlns="" id="{F987C414-2D49-9E5D-A5D6-CF94524B9BE5}"/>
              </a:ext>
            </a:extLst>
          </p:cNvPr>
          <p:cNvSpPr txBox="1"/>
          <p:nvPr/>
        </p:nvSpPr>
        <p:spPr>
          <a:xfrm>
            <a:off x="942109" y="508000"/>
            <a:ext cx="5588766" cy="4786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End user of project</a:t>
            </a:r>
            <a:endParaRPr lang="en-US" sz="2400" dirty="0"/>
          </a:p>
        </p:txBody>
      </p:sp>
      <p:pic>
        <p:nvPicPr>
          <p:cNvPr id="5" name="Picture 4">
            <a:extLst>
              <a:ext uri="{FF2B5EF4-FFF2-40B4-BE49-F238E27FC236}">
                <a16:creationId xmlns:a16="http://schemas.microsoft.com/office/drawing/2014/main" xmlns="" id="{2899F497-8CBE-8DC8-B6F2-DCAEF5D36669}"/>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6" name="TextBox 5">
            <a:extLst>
              <a:ext uri="{FF2B5EF4-FFF2-40B4-BE49-F238E27FC236}">
                <a16:creationId xmlns:a16="http://schemas.microsoft.com/office/drawing/2014/main" xmlns="" id="{98773485-C039-11B8-D4CD-8546ACE8E5F3}"/>
              </a:ext>
            </a:extLst>
          </p:cNvPr>
          <p:cNvSpPr txBox="1"/>
          <p:nvPr/>
        </p:nvSpPr>
        <p:spPr>
          <a:xfrm>
            <a:off x="563419" y="1163782"/>
            <a:ext cx="10335490" cy="4832092"/>
          </a:xfrm>
          <a:prstGeom prst="rect">
            <a:avLst/>
          </a:prstGeom>
          <a:noFill/>
        </p:spPr>
        <p:txBody>
          <a:bodyPr wrap="square">
            <a:spAutoFit/>
          </a:bodyPr>
          <a:lstStyle/>
          <a:p>
            <a:pPr marL="457200" lvl="1"/>
            <a:r>
              <a:rPr lang="en-US" b="1" dirty="0"/>
              <a:t>Daily Road Users (Commuters</a:t>
            </a:r>
            <a:r>
              <a:rPr lang="en-US" b="1" dirty="0" smtClean="0"/>
              <a:t>)</a:t>
            </a:r>
          </a:p>
          <a:p>
            <a:pPr marL="457200" lvl="1"/>
            <a:r>
              <a:rPr lang="en-US" dirty="0" smtClean="0"/>
              <a:t>People </a:t>
            </a:r>
            <a:r>
              <a:rPr lang="en-US" dirty="0"/>
              <a:t>who travel daily for work, education, or personal purposes can use the system to receive early traffic alerts and route advisories to avoid congestion</a:t>
            </a:r>
            <a:r>
              <a:rPr lang="en-US" dirty="0" smtClean="0"/>
              <a:t>.</a:t>
            </a:r>
          </a:p>
          <a:p>
            <a:pPr marL="457200" lvl="1"/>
            <a:endParaRPr lang="en-US" dirty="0" smtClean="0"/>
          </a:p>
          <a:p>
            <a:pPr marL="457200" lvl="1"/>
            <a:r>
              <a:rPr lang="en-US" b="1" dirty="0" smtClean="0"/>
              <a:t>Drivers </a:t>
            </a:r>
            <a:r>
              <a:rPr lang="en-US" b="1" dirty="0"/>
              <a:t>and Vehicle </a:t>
            </a:r>
            <a:r>
              <a:rPr lang="en-US" b="1" dirty="0" smtClean="0"/>
              <a:t>Owners</a:t>
            </a:r>
          </a:p>
          <a:p>
            <a:pPr marL="457200" lvl="1"/>
            <a:r>
              <a:rPr lang="en-US" dirty="0" smtClean="0"/>
              <a:t>Car</a:t>
            </a:r>
            <a:r>
              <a:rPr lang="en-US" dirty="0"/>
              <a:t>, bike, and taxi drivers benefit from real-time traffic updates and alternative route suggestions, helping them save time and fuel</a:t>
            </a:r>
            <a:r>
              <a:rPr lang="en-US" dirty="0" smtClean="0"/>
              <a:t>.</a:t>
            </a:r>
          </a:p>
          <a:p>
            <a:pPr marL="457200" lvl="1"/>
            <a:endParaRPr lang="en-US" dirty="0" smtClean="0"/>
          </a:p>
          <a:p>
            <a:pPr marL="457200" lvl="1"/>
            <a:r>
              <a:rPr lang="en-US" b="1" dirty="0" smtClean="0"/>
              <a:t>Public </a:t>
            </a:r>
            <a:r>
              <a:rPr lang="en-US" b="1" dirty="0"/>
              <a:t>Transport </a:t>
            </a:r>
            <a:r>
              <a:rPr lang="en-US" b="1" dirty="0" smtClean="0"/>
              <a:t>Operators</a:t>
            </a:r>
          </a:p>
          <a:p>
            <a:pPr marL="457200" lvl="1"/>
            <a:r>
              <a:rPr lang="en-US" dirty="0" smtClean="0"/>
              <a:t>Bus </a:t>
            </a:r>
            <a:r>
              <a:rPr lang="en-US" dirty="0"/>
              <a:t>and transport service providers can use traffic insights to optimize routes and schedules during peak congestion hours</a:t>
            </a:r>
            <a:r>
              <a:rPr lang="en-US" dirty="0" smtClean="0"/>
              <a:t>.</a:t>
            </a:r>
          </a:p>
          <a:p>
            <a:pPr marL="457200" lvl="1"/>
            <a:endParaRPr lang="en-US" dirty="0" smtClean="0"/>
          </a:p>
          <a:p>
            <a:pPr marL="457200" lvl="1"/>
            <a:r>
              <a:rPr lang="en-US" b="1" dirty="0" smtClean="0"/>
              <a:t>Emergency Services</a:t>
            </a:r>
          </a:p>
          <a:p>
            <a:pPr marL="457200" lvl="1"/>
            <a:r>
              <a:rPr lang="en-US" dirty="0" smtClean="0"/>
              <a:t>Ambulance</a:t>
            </a:r>
            <a:r>
              <a:rPr lang="en-US" dirty="0"/>
              <a:t>, fire, and police services can use priority routing recommendations to reach destinations faster during emergencies</a:t>
            </a:r>
            <a:r>
              <a:rPr lang="en-US" dirty="0" smtClean="0"/>
              <a:t>.</a:t>
            </a:r>
          </a:p>
          <a:p>
            <a:pPr marL="457200" lvl="1"/>
            <a:endParaRPr lang="en-US" dirty="0" smtClean="0"/>
          </a:p>
          <a:p>
            <a:pPr marL="457200" lvl="1"/>
            <a:r>
              <a:rPr lang="en-US" b="1" dirty="0" smtClean="0"/>
              <a:t>Traffic </a:t>
            </a:r>
            <a:r>
              <a:rPr lang="en-US" b="1" dirty="0"/>
              <a:t>Control </a:t>
            </a:r>
            <a:r>
              <a:rPr lang="en-US" b="1" dirty="0" smtClean="0"/>
              <a:t>Authorities</a:t>
            </a:r>
          </a:p>
          <a:p>
            <a:pPr marL="457200" lvl="1"/>
            <a:r>
              <a:rPr lang="en-US" dirty="0" smtClean="0"/>
              <a:t>City </a:t>
            </a:r>
            <a:r>
              <a:rPr lang="en-US" dirty="0"/>
              <a:t>traffic police and municipal authorities can use congestion reports and analytics for traffic monitoring, planning, and management</a:t>
            </a:r>
            <a:r>
              <a:rPr lang="en-US" dirty="0" smtClean="0"/>
              <a:t>.</a:t>
            </a:r>
          </a:p>
          <a:p>
            <a:pPr marL="457200" lvl="1"/>
            <a:endParaRPr lang="en-US" dirty="0" smtClean="0"/>
          </a:p>
          <a:p>
            <a:pPr marL="457200" lvl="1"/>
            <a:r>
              <a:rPr lang="en-US" b="1" dirty="0" smtClean="0"/>
              <a:t>Smart </a:t>
            </a:r>
            <a:r>
              <a:rPr lang="en-US" b="1" dirty="0"/>
              <a:t>City </a:t>
            </a:r>
            <a:r>
              <a:rPr lang="en-US" b="1" dirty="0" smtClean="0"/>
              <a:t>Administrators</a:t>
            </a:r>
          </a:p>
          <a:p>
            <a:pPr marL="457200" lvl="1"/>
            <a:r>
              <a:rPr lang="en-US" dirty="0" smtClean="0"/>
              <a:t>Urban </a:t>
            </a:r>
            <a:r>
              <a:rPr lang="en-US" dirty="0"/>
              <a:t>planners and smart city officials can use long-term traffic insights for infrastructure improvement and policy decision-making.</a:t>
            </a:r>
            <a:endParaRPr lang="en-US" dirty="0"/>
          </a:p>
        </p:txBody>
      </p:sp>
    </p:spTree>
    <p:extLst>
      <p:ext uri="{BB962C8B-B14F-4D97-AF65-F5344CB8AC3E}">
        <p14:creationId xmlns:p14="http://schemas.microsoft.com/office/powerpoint/2010/main" val="428117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xmlns="" id="{4A7608B5-9906-EFCF-959A-E89FC2E3EE19}"/>
              </a:ext>
            </a:extLst>
          </p:cNvPr>
          <p:cNvSpPr txBox="1"/>
          <p:nvPr/>
        </p:nvSpPr>
        <p:spPr>
          <a:xfrm>
            <a:off x="777240" y="1308610"/>
            <a:ext cx="10307320" cy="6340197"/>
          </a:xfrm>
          <a:prstGeom prst="rect">
            <a:avLst/>
          </a:prstGeom>
          <a:noFill/>
        </p:spPr>
        <p:txBody>
          <a:bodyPr wrap="square" rtlCol="0">
            <a:spAutoFit/>
          </a:bodyPr>
          <a:lstStyle/>
          <a:p>
            <a:pPr marL="285750" indent="-285750">
              <a:buFont typeface="Arial" panose="020B0604020202020204" pitchFamily="34" charset="0"/>
              <a:buChar char="•"/>
            </a:pPr>
            <a:r>
              <a:rPr lang="en-US" sz="1800" dirty="0" err="1"/>
              <a:t>Langflow</a:t>
            </a:r>
            <a:r>
              <a:rPr lang="en-US" sz="1800" dirty="0"/>
              <a:t> platform</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err="1"/>
              <a:t>Langflow</a:t>
            </a:r>
            <a:r>
              <a:rPr lang="en-US" sz="1800" dirty="0"/>
              <a:t> component name –  Agent  , Chat input , Chat output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a:t>
            </a:r>
            <a:r>
              <a:rPr lang="en-US" sz="1800" dirty="0" err="1"/>
              <a:t>Grainte</a:t>
            </a:r>
            <a:r>
              <a:rPr lang="en-US" sz="1800" dirty="0"/>
              <a:t> model -  for </a:t>
            </a:r>
            <a:r>
              <a:rPr lang="en-US" sz="1800" dirty="0" err="1"/>
              <a:t>eg</a:t>
            </a:r>
            <a:r>
              <a:rPr lang="en-US" sz="1800" dirty="0"/>
              <a:t> – ibm-granite-3-2-8b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Cloud</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smtClean="0"/>
              <a:t>IBM Watson studio </a:t>
            </a:r>
          </a:p>
          <a:p>
            <a:pPr marL="285750" indent="-285750">
              <a:buFont typeface="Arial" panose="020B0604020202020204" pitchFamily="34" charset="0"/>
              <a:buChar char="•"/>
            </a:pPr>
            <a:endParaRPr lang="en-US" sz="1800" dirty="0" smtClean="0"/>
          </a:p>
          <a:p>
            <a:pPr marL="285750" indent="-285750">
              <a:buFont typeface="Arial" panose="020B0604020202020204" pitchFamily="34" charset="0"/>
              <a:buChar char="•"/>
            </a:pPr>
            <a:r>
              <a:rPr lang="en-US" sz="1800" dirty="0" smtClean="0"/>
              <a:t>Watson machine learning</a:t>
            </a:r>
          </a:p>
          <a:p>
            <a:pPr marL="285750" indent="-285750">
              <a:buFont typeface="Arial" panose="020B0604020202020204" pitchFamily="34" charset="0"/>
              <a:buChar char="•"/>
            </a:pPr>
            <a:endParaRPr lang="en-US" sz="1800" dirty="0" smtClean="0"/>
          </a:p>
          <a:p>
            <a:pPr marL="285750" indent="-285750">
              <a:buFont typeface="Arial" panose="020B0604020202020204" pitchFamily="34" charset="0"/>
              <a:buChar char="•"/>
            </a:pPr>
            <a:r>
              <a:rPr lang="en-US" sz="1800" dirty="0" err="1" smtClean="0"/>
              <a:t>Watsonx</a:t>
            </a:r>
            <a:r>
              <a:rPr lang="en-US" sz="1800" dirty="0" smtClean="0"/>
              <a:t> governance</a:t>
            </a:r>
          </a:p>
          <a:p>
            <a:pPr marL="285750" indent="-285750">
              <a:buFont typeface="Arial" panose="020B0604020202020204" pitchFamily="34" charset="0"/>
              <a:buChar char="•"/>
            </a:pPr>
            <a:endParaRPr lang="en-US" sz="1800" dirty="0" smtClean="0"/>
          </a:p>
          <a:p>
            <a:pPr marL="285750" indent="-285750">
              <a:buFont typeface="Arial" panose="020B0604020202020204" pitchFamily="34" charset="0"/>
              <a:buChar char="•"/>
            </a:pPr>
            <a:r>
              <a:rPr lang="en-US" sz="1800" dirty="0" smtClean="0"/>
              <a:t>Could object storage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Watsonx.ai</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err="1"/>
              <a:t>Watsonx</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pic>
        <p:nvPicPr>
          <p:cNvPr id="5" name="Picture 4">
            <a:extLst>
              <a:ext uri="{FF2B5EF4-FFF2-40B4-BE49-F238E27FC236}">
                <a16:creationId xmlns:a16="http://schemas.microsoft.com/office/drawing/2014/main" xmlns="" id="{BD72C005-E1BD-D1EA-4A68-50937DBCE5A8}"/>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44639" y="2236603"/>
            <a:ext cx="4257041" cy="3981656"/>
          </a:xfrm>
          <a:prstGeom prst="rect">
            <a:avLst/>
          </a:prstGeom>
          <a:ln>
            <a:solidFill>
              <a:srgbClr val="00B0F0"/>
            </a:solidFill>
          </a:ln>
        </p:spPr>
      </p:pic>
    </p:spTree>
    <p:extLst>
      <p:ext uri="{BB962C8B-B14F-4D97-AF65-F5344CB8AC3E}">
        <p14:creationId xmlns:p14="http://schemas.microsoft.com/office/powerpoint/2010/main" val="376440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711200" y="475594"/>
            <a:ext cx="6952020" cy="694462"/>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Novelty and Uniqueness</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p:cNvSpPr/>
          <p:nvPr/>
        </p:nvSpPr>
        <p:spPr>
          <a:xfrm>
            <a:off x="1064265" y="1583562"/>
            <a:ext cx="5692136" cy="392315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p:cNvSpPr/>
          <p:nvPr/>
        </p:nvSpPr>
        <p:spPr>
          <a:xfrm>
            <a:off x="1064264" y="3829113"/>
            <a:ext cx="7623014"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xmlns="" id="{676BD740-4294-408A-9014-7C75E9F50954}"/>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6" name="Rectangle 5"/>
          <p:cNvSpPr/>
          <p:nvPr/>
        </p:nvSpPr>
        <p:spPr>
          <a:xfrm>
            <a:off x="711200" y="1452260"/>
            <a:ext cx="10881360" cy="3754874"/>
          </a:xfrm>
          <a:prstGeom prst="rect">
            <a:avLst/>
          </a:prstGeom>
        </p:spPr>
        <p:txBody>
          <a:bodyPr wrap="square">
            <a:spAutoFit/>
          </a:bodyPr>
          <a:lstStyle/>
          <a:p>
            <a:pPr marL="285750" indent="-285750">
              <a:buFont typeface="Arial" panose="020B0604020202020204" pitchFamily="34" charset="0"/>
              <a:buChar char="•"/>
            </a:pPr>
            <a:r>
              <a:rPr lang="en-IN" dirty="0"/>
              <a:t>The novelty of this project lies in its agent-based AI architecture implemented using IBM </a:t>
            </a:r>
            <a:r>
              <a:rPr lang="en-IN" dirty="0" err="1"/>
              <a:t>LangFlow</a:t>
            </a:r>
            <a:r>
              <a:rPr lang="en-IN" dirty="0"/>
              <a:t>, where multiple intelligent agents collaboratively handle traffic monitoring, congestion detection, incident identification, alert generation, and decision support. Instead of using a single monolithic model, the system divides responsibilities among specialized agents, making the solution more modular, scalable, and efficient</a:t>
            </a:r>
            <a:r>
              <a:rPr lang="en-IN" dirty="0" smtClean="0"/>
              <a:t>.</a:t>
            </a:r>
          </a:p>
          <a:p>
            <a:endParaRPr lang="en-IN" dirty="0" smtClean="0"/>
          </a:p>
          <a:p>
            <a:pPr marL="285750" indent="-285750">
              <a:buFont typeface="Arial" panose="020B0604020202020204" pitchFamily="34" charset="0"/>
              <a:buChar char="•"/>
            </a:pPr>
            <a:r>
              <a:rPr lang="en-IN" dirty="0" smtClean="0"/>
              <a:t>Unlike </a:t>
            </a:r>
            <a:r>
              <a:rPr lang="en-IN" dirty="0"/>
              <a:t>conventional traffic monitoring systems that react only after congestion occurs, this project introduces early congestion prediction by comparing real-time traffic conditions with historical patterns. This enables proactive traffic management and timely alerts</a:t>
            </a:r>
            <a:r>
              <a:rPr lang="en-IN" dirty="0" smtClean="0"/>
              <a:t>.</a:t>
            </a:r>
          </a:p>
          <a:p>
            <a:endParaRPr lang="en-IN" dirty="0" smtClean="0"/>
          </a:p>
          <a:p>
            <a:pPr marL="285750" indent="-285750">
              <a:buFont typeface="Arial" panose="020B0604020202020204" pitchFamily="34" charset="0"/>
              <a:buChar char="•"/>
            </a:pPr>
            <a:r>
              <a:rPr lang="en-IN" dirty="0" smtClean="0"/>
              <a:t>A </a:t>
            </a:r>
            <a:r>
              <a:rPr lang="en-IN" dirty="0"/>
              <a:t>key unique feature is the incident and emergency-aware intelligence, where the system identifies accidents, abnormal traffic </a:t>
            </a:r>
            <a:r>
              <a:rPr lang="en-IN" dirty="0" err="1"/>
              <a:t>behavior</a:t>
            </a:r>
            <a:r>
              <a:rPr lang="en-IN" dirty="0"/>
              <a:t>, and adverse conditions, and adjusts traffic advisories accordingly, including priority routing considerations</a:t>
            </a:r>
            <a:r>
              <a:rPr lang="en-IN" dirty="0" smtClean="0"/>
              <a:t>.</a:t>
            </a:r>
          </a:p>
          <a:p>
            <a:endParaRPr lang="en-IN" dirty="0" smtClean="0"/>
          </a:p>
          <a:p>
            <a:pPr marL="285750" indent="-285750">
              <a:buFont typeface="Arial" panose="020B0604020202020204" pitchFamily="34" charset="0"/>
              <a:buChar char="•"/>
            </a:pPr>
            <a:r>
              <a:rPr lang="en-IN" dirty="0" smtClean="0"/>
              <a:t>The </a:t>
            </a:r>
            <a:r>
              <a:rPr lang="en-IN" dirty="0"/>
              <a:t>project also stands out by generating human-readable traffic alerts and advisories using IBM Granite LLMs, making complex traffic insights easily understandable to road users and authorities</a:t>
            </a:r>
            <a:r>
              <a:rPr lang="en-IN" dirty="0" smtClean="0"/>
              <a:t>.</a:t>
            </a:r>
          </a:p>
          <a:p>
            <a:endParaRPr lang="en-IN" dirty="0" smtClean="0"/>
          </a:p>
          <a:p>
            <a:pPr marL="285750" indent="-285750">
              <a:buFont typeface="Arial" panose="020B0604020202020204" pitchFamily="34" charset="0"/>
              <a:buChar char="•"/>
            </a:pPr>
            <a:r>
              <a:rPr lang="en-IN" dirty="0" smtClean="0"/>
              <a:t>Additionally</a:t>
            </a:r>
            <a:r>
              <a:rPr lang="en-IN" dirty="0"/>
              <a:t>, the system provides decision-support insights for traffic authorities, highlighting recurring congestion zones and suggesting long-term improvements, which extends its usefulness beyond daily commuters to smart city planners.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9" name="Google Shape;179;p7"/>
          <p:cNvSpPr txBox="1"/>
          <p:nvPr/>
        </p:nvSpPr>
        <p:spPr>
          <a:xfrm>
            <a:off x="1003545" y="364352"/>
            <a:ext cx="8207828" cy="461624"/>
          </a:xfrm>
          <a:prstGeom prst="rect">
            <a:avLst/>
          </a:prstGeom>
          <a:noFill/>
          <a:ln>
            <a:noFill/>
          </a:ln>
        </p:spPr>
        <p:txBody>
          <a:bodyPr spcFirstLastPara="1" wrap="square" lIns="91425" tIns="45700" rIns="91425" bIns="45700" anchor="t" anchorCtr="0">
            <a:spAutoFit/>
          </a:bodyPr>
          <a:lstStyle/>
          <a:p>
            <a:pPr algn="ctr"/>
            <a:r>
              <a:rPr lang="en-US" sz="2400" b="1" dirty="0">
                <a:solidFill>
                  <a:schemeClr val="dk1"/>
                </a:solidFill>
                <a:ea typeface="Calibri"/>
                <a:cs typeface="Calibri"/>
                <a:sym typeface="Calibri"/>
              </a:rPr>
              <a:t>Technical flow diagram - Architecture</a:t>
            </a:r>
            <a:r>
              <a:rPr lang="en-US" sz="2400" b="1" i="0" u="none" strike="noStrike" cap="none" dirty="0">
                <a:solidFill>
                  <a:schemeClr val="dk1"/>
                </a:solidFill>
                <a:ea typeface="Calibri"/>
                <a:cs typeface="Calibri"/>
                <a:sym typeface="Calibri"/>
              </a:rPr>
              <a:t> blueprint</a:t>
            </a:r>
            <a:endParaRPr lang="en-US" sz="2400" b="1">
              <a:solidFill>
                <a:schemeClr val="dk1"/>
              </a:solidFill>
            </a:endParaRPr>
          </a:p>
        </p:txBody>
      </p:sp>
      <p:pic>
        <p:nvPicPr>
          <p:cNvPr id="3" name="Picture 2">
            <a:extLst>
              <a:ext uri="{FF2B5EF4-FFF2-40B4-BE49-F238E27FC236}">
                <a16:creationId xmlns:a16="http://schemas.microsoft.com/office/drawing/2014/main" xmlns="" id="{13F004CF-732B-B365-E320-17AD7B82A8D0}"/>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1860" y="963792"/>
            <a:ext cx="10058400" cy="493916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xmlns=""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xmlns=""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err="1">
                <a:solidFill>
                  <a:srgbClr val="051D3A"/>
                </a:solidFill>
                <a:ea typeface="Times New Roman"/>
                <a:cs typeface="Times New Roman"/>
                <a:sym typeface="Times New Roman"/>
              </a:rPr>
              <a:t>Langflow</a:t>
            </a:r>
            <a:r>
              <a:rPr lang="en-US" sz="2400" b="1" i="0" u="none" strike="noStrike" cap="none" dirty="0">
                <a:solidFill>
                  <a:srgbClr val="051D3A"/>
                </a:solidFill>
                <a:ea typeface="Times New Roman"/>
                <a:cs typeface="Times New Roman"/>
                <a:sym typeface="Times New Roman"/>
              </a:rPr>
              <a:t> component Used </a:t>
            </a:r>
            <a:endParaRPr lang="en-US" sz="2400" b="1" i="0" u="none" strike="noStrike" cap="none">
              <a:solidFill>
                <a:srgbClr val="000000"/>
              </a:solidFill>
              <a:ea typeface="Times New Roman"/>
              <a:cs typeface="Times New Roman"/>
            </a:endParaRPr>
          </a:p>
        </p:txBody>
      </p:sp>
      <p:sp>
        <p:nvSpPr>
          <p:cNvPr id="148" name="Google Shape;148;p5">
            <a:extLst>
              <a:ext uri="{FF2B5EF4-FFF2-40B4-BE49-F238E27FC236}">
                <a16:creationId xmlns:a16="http://schemas.microsoft.com/office/drawing/2014/main" xmlns=""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xmlns=""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xmlns=""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xmlns=""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xmlns=""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xmlns=""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9BB86949-7ED1-C43B-B1E3-5122BB67A596}"/>
              </a:ext>
            </a:extLst>
          </p:cNvPr>
          <p:cNvSpPr txBox="1"/>
          <p:nvPr/>
        </p:nvSpPr>
        <p:spPr>
          <a:xfrm>
            <a:off x="621792" y="1389888"/>
            <a:ext cx="8823960" cy="4185761"/>
          </a:xfrm>
          <a:prstGeom prst="rect">
            <a:avLst/>
          </a:prstGeom>
          <a:noFill/>
        </p:spPr>
        <p:txBody>
          <a:bodyPr wrap="square" rtlCol="0">
            <a:spAutoFit/>
          </a:bodyPr>
          <a:lstStyle/>
          <a:p>
            <a:r>
              <a:rPr lang="en-US" dirty="0"/>
              <a:t>Explain the use of each </a:t>
            </a:r>
            <a:r>
              <a:rPr lang="en-US" dirty="0" err="1"/>
              <a:t>langflow</a:t>
            </a:r>
            <a:r>
              <a:rPr lang="en-US" dirty="0"/>
              <a:t> component  used into you project</a:t>
            </a:r>
          </a:p>
          <a:p>
            <a:endParaRPr lang="en-US" dirty="0"/>
          </a:p>
          <a:p>
            <a:endParaRPr lang="en-US" dirty="0"/>
          </a:p>
          <a:p>
            <a:r>
              <a:rPr lang="en-US" dirty="0"/>
              <a:t>1</a:t>
            </a:r>
            <a:r>
              <a:rPr lang="en-US" dirty="0" smtClean="0"/>
              <a:t>)   Chat </a:t>
            </a:r>
            <a:r>
              <a:rPr lang="en-US" dirty="0"/>
              <a:t>Input </a:t>
            </a:r>
          </a:p>
          <a:p>
            <a:endParaRPr lang="en-US" dirty="0"/>
          </a:p>
          <a:p>
            <a:r>
              <a:rPr lang="en-US" dirty="0"/>
              <a:t>2) </a:t>
            </a:r>
            <a:r>
              <a:rPr lang="en-US" dirty="0" smtClean="0"/>
              <a:t>  IBM </a:t>
            </a:r>
            <a:r>
              <a:rPr lang="en-US" dirty="0" err="1"/>
              <a:t>watsonx</a:t>
            </a:r>
            <a:r>
              <a:rPr lang="en-US" dirty="0"/>
              <a:t> AI Agent</a:t>
            </a:r>
          </a:p>
          <a:p>
            <a:endParaRPr lang="en-US" dirty="0"/>
          </a:p>
          <a:p>
            <a:pPr marL="342900" indent="-342900">
              <a:buAutoNum type="arabicParenR" startAt="3"/>
            </a:pPr>
            <a:r>
              <a:rPr lang="en-US" dirty="0"/>
              <a:t>File component</a:t>
            </a:r>
          </a:p>
          <a:p>
            <a:pPr marL="342900" indent="-342900">
              <a:buAutoNum type="arabicParenR" startAt="3"/>
            </a:pPr>
            <a:endParaRPr lang="en-US" dirty="0"/>
          </a:p>
          <a:p>
            <a:pPr marL="342900" indent="-342900">
              <a:buAutoNum type="arabicParenR" startAt="3"/>
            </a:pPr>
            <a:r>
              <a:rPr lang="en-US" dirty="0"/>
              <a:t>Chat output </a:t>
            </a:r>
            <a:endParaRPr lang="en-US" dirty="0" smtClean="0"/>
          </a:p>
          <a:p>
            <a:pPr marL="342900" indent="-342900">
              <a:buAutoNum type="arabicParenR" startAt="3"/>
            </a:pPr>
            <a:endParaRPr lang="en-US" dirty="0"/>
          </a:p>
          <a:p>
            <a:r>
              <a:rPr lang="en-US" dirty="0"/>
              <a:t>5</a:t>
            </a:r>
            <a:r>
              <a:rPr lang="en-US" dirty="0" smtClean="0"/>
              <a:t>)    Agents</a:t>
            </a: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xmlns="" id="{F55A7959-9FC6-1DAE-7A47-36165450EF1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48079FEC-4447-C4FA-64A4-CB532564DAF6}"/>
              </a:ext>
            </a:extLst>
          </p:cNvPr>
          <p:cNvSpPr txBox="1"/>
          <p:nvPr/>
        </p:nvSpPr>
        <p:spPr>
          <a:xfrm>
            <a:off x="838779" y="200739"/>
            <a:ext cx="46840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1 </a:t>
            </a:r>
            <a:endParaRPr lang="en-US" dirty="0"/>
          </a:p>
        </p:txBody>
      </p:sp>
      <p:pic>
        <p:nvPicPr>
          <p:cNvPr id="5" name="Picture 4">
            <a:extLst>
              <a:ext uri="{FF2B5EF4-FFF2-40B4-BE49-F238E27FC236}">
                <a16:creationId xmlns:a16="http://schemas.microsoft.com/office/drawing/2014/main" xmlns="" id="{073ADE60-811A-97E9-24FE-F2F7F61FA469}"/>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6640" y="804916"/>
            <a:ext cx="10424160" cy="5119007"/>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9E2832E4-AC39-7A49-D4B6-C1A4B148EC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DD23FCBA-FC00-378F-C117-12DC1F4FD6E0}"/>
              </a:ext>
            </a:extLst>
          </p:cNvPr>
          <p:cNvSpPr txBox="1"/>
          <p:nvPr/>
        </p:nvSpPr>
        <p:spPr>
          <a:xfrm>
            <a:off x="1065320" y="138955"/>
            <a:ext cx="546666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2</a:t>
            </a:r>
          </a:p>
        </p:txBody>
      </p:sp>
      <p:pic>
        <p:nvPicPr>
          <p:cNvPr id="5" name="Picture 4">
            <a:extLst>
              <a:ext uri="{FF2B5EF4-FFF2-40B4-BE49-F238E27FC236}">
                <a16:creationId xmlns:a16="http://schemas.microsoft.com/office/drawing/2014/main" xmlns="" id="{C9B59E40-7B3E-CFB4-3FD9-6C10E068F0AF}"/>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6800" y="954702"/>
            <a:ext cx="10058400" cy="5006733"/>
          </a:xfrm>
          <a:prstGeom prst="rect">
            <a:avLst/>
          </a:prstGeom>
        </p:spPr>
      </p:pic>
    </p:spTree>
    <p:extLst>
      <p:ext uri="{BB962C8B-B14F-4D97-AF65-F5344CB8AC3E}">
        <p14:creationId xmlns:p14="http://schemas.microsoft.com/office/powerpoint/2010/main" val="795043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41ACF88B-2F75-CE59-3114-C1537EDD65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FFE5FD7-2292-570F-1397-1E9287F8CB9D}"/>
              </a:ext>
            </a:extLst>
          </p:cNvPr>
          <p:cNvSpPr txBox="1"/>
          <p:nvPr/>
        </p:nvSpPr>
        <p:spPr>
          <a:xfrm>
            <a:off x="1065320" y="138955"/>
            <a:ext cx="526071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1</a:t>
            </a:r>
            <a:endParaRPr lang="en-US" dirty="0"/>
          </a:p>
        </p:txBody>
      </p:sp>
      <p:pic>
        <p:nvPicPr>
          <p:cNvPr id="5" name="Picture 4">
            <a:extLst>
              <a:ext uri="{FF2B5EF4-FFF2-40B4-BE49-F238E27FC236}">
                <a16:creationId xmlns:a16="http://schemas.microsoft.com/office/drawing/2014/main" xmlns="" id="{A9872FD1-7A0B-E5B9-638C-B95C4CCFE94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4117" y="750335"/>
            <a:ext cx="10058400" cy="4990595"/>
          </a:xfrm>
          <a:prstGeom prst="rect">
            <a:avLst/>
          </a:prstGeom>
        </p:spPr>
      </p:pic>
    </p:spTree>
    <p:extLst>
      <p:ext uri="{BB962C8B-B14F-4D97-AF65-F5344CB8AC3E}">
        <p14:creationId xmlns:p14="http://schemas.microsoft.com/office/powerpoint/2010/main" val="1135684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5838F091-0014-6AB2-D2EE-81C735D1BE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F9D04B6-7646-B3BF-9A84-684A467FADAB}"/>
              </a:ext>
            </a:extLst>
          </p:cNvPr>
          <p:cNvSpPr txBox="1"/>
          <p:nvPr/>
        </p:nvSpPr>
        <p:spPr>
          <a:xfrm>
            <a:off x="1219779" y="200739"/>
            <a:ext cx="462228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smtClean="0"/>
              <a:t>Output screenshot 2</a:t>
            </a:r>
            <a:endParaRPr lang="en-US" dirty="0"/>
          </a:p>
        </p:txBody>
      </p:sp>
      <p:pic>
        <p:nvPicPr>
          <p:cNvPr id="5" name="Picture 4">
            <a:extLst>
              <a:ext uri="{FF2B5EF4-FFF2-40B4-BE49-F238E27FC236}">
                <a16:creationId xmlns:a16="http://schemas.microsoft.com/office/drawing/2014/main" xmlns="" id="{BF314CEB-36A0-2FF5-7F53-C10C910CAB03}"/>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6800" y="743684"/>
            <a:ext cx="10058400" cy="5076000"/>
          </a:xfrm>
          <a:prstGeom prst="rect">
            <a:avLst/>
          </a:prstGeom>
        </p:spPr>
      </p:pic>
    </p:spTree>
    <p:extLst>
      <p:ext uri="{BB962C8B-B14F-4D97-AF65-F5344CB8AC3E}">
        <p14:creationId xmlns:p14="http://schemas.microsoft.com/office/powerpoint/2010/main" val="1138841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1058325"/>
          </a:xfrm>
        </p:spPr>
        <p:txBody>
          <a:bodyPr>
            <a:normAutofit/>
          </a:bodyPr>
          <a:lstStyle/>
          <a:p>
            <a:r>
              <a:rPr lang="en-US" sz="2400" b="1" dirty="0" smtClean="0">
                <a:latin typeface="+mn-lt"/>
              </a:rPr>
              <a:t>Output screenshot 3</a:t>
            </a:r>
            <a:endParaRPr lang="en-IN" sz="2400" b="1" dirty="0">
              <a:latin typeface="+mn-lt"/>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423450"/>
            <a:ext cx="10058400" cy="4753970"/>
          </a:xfrm>
          <a:prstGeom prst="rect">
            <a:avLst/>
          </a:prstGeom>
        </p:spPr>
      </p:pic>
    </p:spTree>
    <p:extLst>
      <p:ext uri="{BB962C8B-B14F-4D97-AF65-F5344CB8AC3E}">
        <p14:creationId xmlns:p14="http://schemas.microsoft.com/office/powerpoint/2010/main" val="21190126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smtClean="0">
                <a:latin typeface="+mj-lt"/>
                <a:cs typeface="Times New Roman" panose="02020603050405020304" pitchFamily="18" charset="0"/>
              </a:rPr>
              <a:t>Output screenshot 4</a:t>
            </a:r>
            <a:endParaRPr lang="en-IN" sz="2400" b="1" dirty="0">
              <a:latin typeface="+mj-lt"/>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3360" y="1554283"/>
            <a:ext cx="8442022" cy="4541914"/>
          </a:xfrm>
          <a:prstGeom prst="rect">
            <a:avLst/>
          </a:prstGeom>
        </p:spPr>
      </p:pic>
    </p:spTree>
    <p:extLst>
      <p:ext uri="{BB962C8B-B14F-4D97-AF65-F5344CB8AC3E}">
        <p14:creationId xmlns:p14="http://schemas.microsoft.com/office/powerpoint/2010/main" val="273217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11125"/>
            <a:ext cx="10515600" cy="1325563"/>
          </a:xfrm>
        </p:spPr>
        <p:txBody>
          <a:bodyPr>
            <a:normAutofit/>
          </a:bodyPr>
          <a:lstStyle/>
          <a:p>
            <a:r>
              <a:rPr lang="en-US" sz="2400" b="1" dirty="0" smtClean="0">
                <a:latin typeface="+mj-lt"/>
              </a:rPr>
              <a:t>Output screenshot 5</a:t>
            </a:r>
            <a:endParaRPr lang="en-IN" sz="2400" b="1" dirty="0">
              <a:latin typeface="+mj-lt"/>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0410" y="1436688"/>
            <a:ext cx="8569030" cy="5126672"/>
          </a:xfrm>
          <a:prstGeom prst="rect">
            <a:avLst/>
          </a:prstGeom>
        </p:spPr>
      </p:pic>
    </p:spTree>
    <p:extLst>
      <p:ext uri="{BB962C8B-B14F-4D97-AF65-F5344CB8AC3E}">
        <p14:creationId xmlns:p14="http://schemas.microsoft.com/office/powerpoint/2010/main" val="30681053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0668C6FD-577A-7288-5642-1AFC22BD04F2}"/>
              </a:ext>
            </a:extLst>
          </p:cNvPr>
          <p:cNvSpPr/>
          <p:nvPr/>
        </p:nvSpPr>
        <p:spPr>
          <a:xfrm>
            <a:off x="843280" y="396241"/>
            <a:ext cx="6819940" cy="728506"/>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Future Scope </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xmlns="" id="{EAFA16CB-0A72-5AC5-69A0-ABF4A752B43F}"/>
              </a:ext>
            </a:extLst>
          </p:cNvPr>
          <p:cNvSpPr/>
          <p:nvPr/>
        </p:nvSpPr>
        <p:spPr>
          <a:xfrm>
            <a:off x="955040" y="1320801"/>
            <a:ext cx="9542272" cy="4350148"/>
          </a:xfrm>
          <a:prstGeom prst="rect">
            <a:avLst/>
          </a:prstGeom>
          <a:noFill/>
          <a:ln>
            <a:noFill/>
          </a:ln>
        </p:spPr>
        <p:txBody>
          <a:bodyPr spcFirstLastPara="1" wrap="square" lIns="0" tIns="0" rIns="0" bIns="0" anchor="t" anchorCtr="0">
            <a:noAutofit/>
          </a:bodyPr>
          <a:lstStyle/>
          <a:p>
            <a:pPr marL="285750" lvl="0" indent="-285750">
              <a:lnSpc>
                <a:spcPct val="162162"/>
              </a:lnSpc>
              <a:buClr>
                <a:srgbClr val="2B3541"/>
              </a:buClr>
              <a:buSzPts val="1850"/>
              <a:buFont typeface="Arial" panose="020B0604020202020204" pitchFamily="34" charset="0"/>
              <a:buChar char="•"/>
            </a:pPr>
            <a:r>
              <a:rPr lang="en-US" sz="1600" dirty="0">
                <a:solidFill>
                  <a:srgbClr val="2B3541"/>
                </a:solidFill>
                <a:latin typeface="+mn-lt"/>
                <a:ea typeface="Times New Roman"/>
                <a:cs typeface="Times New Roman" panose="02020603050405020304" pitchFamily="18" charset="0"/>
                <a:sym typeface="Times New Roman"/>
              </a:rPr>
              <a:t>The system can be enhanced by integrating real-time traffic sensors, CCTV feeds, and GPS data to improve accuracy and responsiveness</a:t>
            </a:r>
            <a:r>
              <a:rPr lang="en-US" sz="1600" dirty="0" smtClean="0">
                <a:solidFill>
                  <a:srgbClr val="2B3541"/>
                </a:solidFill>
                <a:latin typeface="+mn-lt"/>
                <a:ea typeface="Times New Roman"/>
                <a:cs typeface="Times New Roman" panose="02020603050405020304" pitchFamily="18" charset="0"/>
                <a:sym typeface="Times New Roman"/>
              </a:rPr>
              <a:t>.</a:t>
            </a:r>
          </a:p>
          <a:p>
            <a:pPr marL="285750" lvl="0" indent="-285750">
              <a:lnSpc>
                <a:spcPct val="162162"/>
              </a:lnSpc>
              <a:buClr>
                <a:srgbClr val="2B3541"/>
              </a:buClr>
              <a:buSzPts val="1850"/>
              <a:buFont typeface="Arial" panose="020B0604020202020204" pitchFamily="34" charset="0"/>
              <a:buChar char="•"/>
            </a:pPr>
            <a:r>
              <a:rPr lang="en-US" sz="1600" dirty="0" smtClean="0">
                <a:solidFill>
                  <a:srgbClr val="2B3541"/>
                </a:solidFill>
                <a:latin typeface="+mn-lt"/>
                <a:ea typeface="Times New Roman"/>
                <a:cs typeface="Times New Roman" panose="02020603050405020304" pitchFamily="18" charset="0"/>
                <a:sym typeface="Times New Roman"/>
              </a:rPr>
              <a:t>Advanced </a:t>
            </a:r>
            <a:r>
              <a:rPr lang="en-US" sz="1600" dirty="0">
                <a:solidFill>
                  <a:srgbClr val="2B3541"/>
                </a:solidFill>
                <a:latin typeface="+mn-lt"/>
                <a:ea typeface="Times New Roman"/>
                <a:cs typeface="Times New Roman" panose="02020603050405020304" pitchFamily="18" charset="0"/>
                <a:sym typeface="Times New Roman"/>
              </a:rPr>
              <a:t>AI and machine learning models can be used to improve short-term and long-term traffic congestion </a:t>
            </a:r>
            <a:r>
              <a:rPr lang="en-US" sz="1600" dirty="0" smtClean="0">
                <a:solidFill>
                  <a:srgbClr val="2B3541"/>
                </a:solidFill>
                <a:latin typeface="+mn-lt"/>
                <a:ea typeface="Times New Roman"/>
                <a:cs typeface="Times New Roman" panose="02020603050405020304" pitchFamily="18" charset="0"/>
                <a:sym typeface="Times New Roman"/>
              </a:rPr>
              <a:t>prediction.</a:t>
            </a:r>
          </a:p>
          <a:p>
            <a:pPr marL="285750" lvl="0" indent="-285750">
              <a:lnSpc>
                <a:spcPct val="162162"/>
              </a:lnSpc>
              <a:buClr>
                <a:srgbClr val="2B3541"/>
              </a:buClr>
              <a:buSzPts val="1850"/>
              <a:buFont typeface="Arial" panose="020B0604020202020204" pitchFamily="34" charset="0"/>
              <a:buChar char="•"/>
            </a:pPr>
            <a:r>
              <a:rPr lang="en-US" sz="1600" dirty="0" smtClean="0">
                <a:solidFill>
                  <a:srgbClr val="2B3541"/>
                </a:solidFill>
                <a:latin typeface="+mn-lt"/>
                <a:ea typeface="Times New Roman"/>
                <a:cs typeface="Times New Roman" panose="02020603050405020304" pitchFamily="18" charset="0"/>
                <a:sym typeface="Times New Roman"/>
              </a:rPr>
              <a:t>A </a:t>
            </a:r>
            <a:r>
              <a:rPr lang="en-US" sz="1600" dirty="0">
                <a:solidFill>
                  <a:srgbClr val="2B3541"/>
                </a:solidFill>
                <a:latin typeface="+mn-lt"/>
                <a:ea typeface="Times New Roman"/>
                <a:cs typeface="Times New Roman" panose="02020603050405020304" pitchFamily="18" charset="0"/>
                <a:sym typeface="Times New Roman"/>
              </a:rPr>
              <a:t>mobile or web application can be developed to deliver real-time alerts and route advisories directly to users</a:t>
            </a:r>
            <a:r>
              <a:rPr lang="en-US" sz="1600" dirty="0" smtClean="0">
                <a:solidFill>
                  <a:srgbClr val="2B3541"/>
                </a:solidFill>
                <a:latin typeface="+mn-lt"/>
                <a:ea typeface="Times New Roman"/>
                <a:cs typeface="Times New Roman" panose="02020603050405020304" pitchFamily="18" charset="0"/>
                <a:sym typeface="Times New Roman"/>
              </a:rPr>
              <a:t>.</a:t>
            </a:r>
          </a:p>
          <a:p>
            <a:pPr marL="285750" lvl="0" indent="-285750">
              <a:lnSpc>
                <a:spcPct val="162162"/>
              </a:lnSpc>
              <a:buClr>
                <a:srgbClr val="2B3541"/>
              </a:buClr>
              <a:buSzPts val="1850"/>
              <a:buFont typeface="Arial" panose="020B0604020202020204" pitchFamily="34" charset="0"/>
              <a:buChar char="•"/>
            </a:pPr>
            <a:r>
              <a:rPr lang="en-US" sz="1600" dirty="0" smtClean="0">
                <a:solidFill>
                  <a:srgbClr val="2B3541"/>
                </a:solidFill>
                <a:latin typeface="+mn-lt"/>
                <a:ea typeface="Times New Roman"/>
                <a:cs typeface="Times New Roman" panose="02020603050405020304" pitchFamily="18" charset="0"/>
                <a:sym typeface="Times New Roman"/>
              </a:rPr>
              <a:t>The </a:t>
            </a:r>
            <a:r>
              <a:rPr lang="en-US" sz="1600" dirty="0">
                <a:solidFill>
                  <a:srgbClr val="2B3541"/>
                </a:solidFill>
                <a:latin typeface="+mn-lt"/>
                <a:ea typeface="Times New Roman"/>
                <a:cs typeface="Times New Roman" panose="02020603050405020304" pitchFamily="18" charset="0"/>
                <a:sym typeface="Times New Roman"/>
              </a:rPr>
              <a:t>solution can be integrated with smart traffic signal systems to dynamically control signals based on congestion levels</a:t>
            </a:r>
            <a:r>
              <a:rPr lang="en-US" sz="1600" dirty="0" smtClean="0">
                <a:solidFill>
                  <a:srgbClr val="2B3541"/>
                </a:solidFill>
                <a:latin typeface="+mn-lt"/>
                <a:ea typeface="Times New Roman"/>
                <a:cs typeface="Times New Roman" panose="02020603050405020304" pitchFamily="18" charset="0"/>
                <a:sym typeface="Times New Roman"/>
              </a:rPr>
              <a:t>.</a:t>
            </a:r>
          </a:p>
          <a:p>
            <a:pPr marL="285750" lvl="0" indent="-285750">
              <a:lnSpc>
                <a:spcPct val="162162"/>
              </a:lnSpc>
              <a:buClr>
                <a:srgbClr val="2B3541"/>
              </a:buClr>
              <a:buSzPts val="1850"/>
              <a:buFont typeface="Arial" panose="020B0604020202020204" pitchFamily="34" charset="0"/>
              <a:buChar char="•"/>
            </a:pPr>
            <a:r>
              <a:rPr lang="en-US" sz="1600" dirty="0" smtClean="0">
                <a:solidFill>
                  <a:srgbClr val="2B3541"/>
                </a:solidFill>
                <a:latin typeface="+mn-lt"/>
                <a:ea typeface="Times New Roman"/>
                <a:cs typeface="Times New Roman" panose="02020603050405020304" pitchFamily="18" charset="0"/>
                <a:sym typeface="Times New Roman"/>
              </a:rPr>
              <a:t>The </a:t>
            </a:r>
            <a:r>
              <a:rPr lang="en-US" sz="1600" dirty="0">
                <a:solidFill>
                  <a:srgbClr val="2B3541"/>
                </a:solidFill>
                <a:latin typeface="+mn-lt"/>
                <a:ea typeface="Times New Roman"/>
                <a:cs typeface="Times New Roman" panose="02020603050405020304" pitchFamily="18" charset="0"/>
                <a:sym typeface="Times New Roman"/>
              </a:rPr>
              <a:t>system can be scaled to support multiple cities, enabling centralized traffic monitoring and smart city traffic management.</a:t>
            </a:r>
            <a:endParaRPr lang="en-US" sz="1600" dirty="0">
              <a:solidFill>
                <a:srgbClr val="2B3541"/>
              </a:solidFill>
              <a:latin typeface="+mn-lt"/>
              <a:ea typeface="Times New Roman"/>
              <a:cs typeface="Times New Roman" panose="02020603050405020304" pitchFamily="18" charset="0"/>
              <a:sym typeface="Times New Roman"/>
            </a:endParaRPr>
          </a:p>
          <a:p>
            <a:pPr marR="0" lvl="0" algn="l" rtl="0">
              <a:lnSpc>
                <a:spcPct val="162162"/>
              </a:lnSpc>
              <a:spcBef>
                <a:spcPts val="0"/>
              </a:spcBef>
              <a:spcAft>
                <a:spcPts val="0"/>
              </a:spcAft>
              <a:buClr>
                <a:srgbClr val="2B3541"/>
              </a:buClr>
              <a:buSzPts val="1850"/>
            </a:pPr>
            <a:endParaRPr sz="1600" b="0" i="0" u="none" strike="noStrike" cap="none" dirty="0">
              <a:solidFill>
                <a:srgbClr val="000000"/>
              </a:solidFill>
              <a:latin typeface="+mn-lt"/>
              <a:ea typeface="Times New Roman"/>
              <a:cs typeface="Times New Roman" panose="02020603050405020304" pitchFamily="18" charset="0"/>
              <a:sym typeface="Times New Roman"/>
            </a:endParaRPr>
          </a:p>
        </p:txBody>
      </p:sp>
      <p:sp>
        <p:nvSpPr>
          <p:cNvPr id="280" name="Google Shape;280;p18">
            <a:extLst>
              <a:ext uri="{FF2B5EF4-FFF2-40B4-BE49-F238E27FC236}">
                <a16:creationId xmlns:a16="http://schemas.microsoft.com/office/drawing/2014/main" xmlns=""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xmlns="" id="{B96DCFED-2C83-7A17-CDB2-A4F4D4BBD1D5}"/>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36706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Git Hub Link</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xmlns="" id="{15507A2F-9304-7475-5C74-2BAA93879CFE}"/>
              </a:ext>
            </a:extLst>
          </p:cNvPr>
          <p:cNvSpPr/>
          <p:nvPr/>
        </p:nvSpPr>
        <p:spPr>
          <a:xfrm>
            <a:off x="914400" y="1393947"/>
            <a:ext cx="9582912"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r>
              <a:rPr lang="en-US" sz="1850" dirty="0">
                <a:solidFill>
                  <a:srgbClr val="2B3541"/>
                </a:solidFill>
                <a:latin typeface="Times New Roman"/>
                <a:ea typeface="Times New Roman"/>
                <a:cs typeface="Times New Roman"/>
                <a:sym typeface="Times New Roman"/>
              </a:rPr>
              <a:t>–https://github.com/tejutejashwini606-star/AI-traffic-congestion-monitoring-system-ibm.git</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xmlns="" id="{B8925A06-F7F9-F25E-EBB3-1891B33446BF}"/>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FECD098C-4ECF-993B-66E2-9989F83F62D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7BDA5ADF-C9A0-CA5D-844A-6AC3872A0D8C}"/>
              </a:ext>
            </a:extLst>
          </p:cNvPr>
          <p:cNvSpPr/>
          <p:nvPr/>
        </p:nvSpPr>
        <p:spPr>
          <a:xfrm>
            <a:off x="975360" y="420729"/>
            <a:ext cx="6687860" cy="704017"/>
          </a:xfrm>
          <a:prstGeom prst="rect">
            <a:avLst/>
          </a:prstGeom>
          <a:noFill/>
          <a:ln>
            <a:noFill/>
          </a:ln>
        </p:spPr>
        <p:txBody>
          <a:bodyPr spcFirstLastPara="1" wrap="square" lIns="0" tIns="0" rIns="0" bIns="0" anchor="t" anchorCtr="0">
            <a:noAutofit/>
          </a:bodyPr>
          <a:lstStyle/>
          <a:p>
            <a:pPr>
              <a:lnSpc>
                <a:spcPct val="157142"/>
              </a:lnSpc>
            </a:pPr>
            <a:r>
              <a:rPr lang="en-US" sz="3500" b="1" dirty="0">
                <a:solidFill>
                  <a:srgbClr val="051D3A"/>
                </a:solidFill>
                <a:latin typeface="Times New Roman"/>
                <a:cs typeface="Times New Roman"/>
                <a:sym typeface="Times New Roman"/>
              </a:rPr>
              <a:t>References </a:t>
            </a:r>
            <a:endParaRPr lang="en-US" dirty="0"/>
          </a:p>
        </p:txBody>
      </p:sp>
      <p:sp>
        <p:nvSpPr>
          <p:cNvPr id="279" name="Google Shape;279;p18">
            <a:extLst>
              <a:ext uri="{FF2B5EF4-FFF2-40B4-BE49-F238E27FC236}">
                <a16:creationId xmlns:a16="http://schemas.microsoft.com/office/drawing/2014/main" xmlns="" id="{AF5AFD00-74FD-B439-5973-23933ABD88EC}"/>
              </a:ext>
            </a:extLst>
          </p:cNvPr>
          <p:cNvSpPr/>
          <p:nvPr/>
        </p:nvSpPr>
        <p:spPr>
          <a:xfrm>
            <a:off x="975360" y="1393947"/>
            <a:ext cx="10048240" cy="4036766"/>
          </a:xfrm>
          <a:prstGeom prst="rect">
            <a:avLst/>
          </a:prstGeom>
          <a:noFill/>
          <a:ln>
            <a:noFill/>
          </a:ln>
        </p:spPr>
        <p:txBody>
          <a:bodyPr spcFirstLastPara="1" wrap="square" lIns="0" tIns="0" rIns="0" bIns="0" anchor="t" anchorCtr="0">
            <a:noAutofit/>
          </a:bodyPr>
          <a:lstStyle/>
          <a:p>
            <a:r>
              <a:rPr lang="en-IN" sz="2000" b="1" dirty="0"/>
              <a:t>IBM </a:t>
            </a:r>
            <a:r>
              <a:rPr lang="en-IN" sz="2000" b="1" dirty="0" err="1"/>
              <a:t>LangFlow</a:t>
            </a:r>
            <a:r>
              <a:rPr lang="en-IN" sz="2000" b="1" dirty="0"/>
              <a:t> &amp; Vector Databases</a:t>
            </a:r>
          </a:p>
          <a:p>
            <a:r>
              <a:rPr lang="en-IN" sz="2000" dirty="0"/>
              <a:t>IBM </a:t>
            </a:r>
            <a:r>
              <a:rPr lang="en-IN" sz="2000" dirty="0" err="1"/>
              <a:t>LangFlow</a:t>
            </a:r>
            <a:r>
              <a:rPr lang="en-IN" sz="2000" dirty="0"/>
              <a:t> GitHub (Official):</a:t>
            </a:r>
            <a:br>
              <a:rPr lang="en-IN" sz="2000" dirty="0"/>
            </a:br>
            <a:r>
              <a:rPr lang="en-IN" sz="2000" dirty="0"/>
              <a:t>https://github.com/langflow/langflow</a:t>
            </a:r>
            <a:br>
              <a:rPr lang="en-IN" sz="2000" dirty="0"/>
            </a:br>
            <a:r>
              <a:rPr lang="en-IN" sz="2000" i="1" dirty="0"/>
              <a:t>(</a:t>
            </a:r>
            <a:r>
              <a:rPr lang="en-IN" sz="2000" i="1" dirty="0" err="1"/>
              <a:t>LangFlow</a:t>
            </a:r>
            <a:r>
              <a:rPr lang="en-IN" sz="2000" i="1" dirty="0"/>
              <a:t> </a:t>
            </a:r>
            <a:r>
              <a:rPr lang="en-IN" sz="2000" i="1" dirty="0" err="1"/>
              <a:t>opensource</a:t>
            </a:r>
            <a:r>
              <a:rPr lang="en-IN" sz="2000" i="1" dirty="0"/>
              <a:t> visual LLM workflow builder)</a:t>
            </a:r>
            <a:endParaRPr lang="en-IN" sz="2000" dirty="0"/>
          </a:p>
          <a:p>
            <a:r>
              <a:rPr lang="en-IN" sz="2000" dirty="0"/>
              <a:t>Vector Databases for retrieval (general):</a:t>
            </a:r>
            <a:br>
              <a:rPr lang="en-IN" sz="2000" dirty="0"/>
            </a:br>
            <a:r>
              <a:rPr lang="en-IN" sz="2000" dirty="0"/>
              <a:t>https://www.oreilly.com/library/view/vector-databases/9781098151855/</a:t>
            </a:r>
            <a:br>
              <a:rPr lang="en-IN" sz="2000" dirty="0"/>
            </a:br>
            <a:r>
              <a:rPr lang="en-IN" sz="2000" i="1" dirty="0"/>
              <a:t>(Chapter-level overview</a:t>
            </a:r>
            <a:r>
              <a:rPr lang="en-IN" sz="2000" i="1" dirty="0" smtClean="0"/>
              <a:t>)</a:t>
            </a:r>
          </a:p>
          <a:p>
            <a:endParaRPr lang="en-IN" sz="2000" dirty="0"/>
          </a:p>
          <a:p>
            <a:r>
              <a:rPr lang="en-IN" sz="2000" b="1" dirty="0"/>
              <a:t>5. LLMs with External Knowledge (RAG)</a:t>
            </a:r>
          </a:p>
          <a:p>
            <a:r>
              <a:rPr lang="en-IN" sz="2000" dirty="0"/>
              <a:t>https://arxiv.org/abs/2005.11401</a:t>
            </a:r>
            <a:br>
              <a:rPr lang="en-IN" sz="2000" dirty="0"/>
            </a:br>
            <a:r>
              <a:rPr lang="en-IN" sz="2000" i="1" dirty="0"/>
              <a:t>(RAG — Retrieval-Augmented Generation)</a:t>
            </a:r>
            <a:endParaRPr lang="en-IN" sz="2000" dirty="0"/>
          </a:p>
          <a:p>
            <a:r>
              <a:rPr lang="en-IN" sz="2000" dirty="0"/>
              <a:t>https://www.ibm.com/cloud/learn/retrieval-augmented-generation</a:t>
            </a:r>
            <a:br>
              <a:rPr lang="en-IN" sz="2000" dirty="0"/>
            </a:br>
            <a:r>
              <a:rPr lang="en-IN" sz="2000" i="1" dirty="0"/>
              <a:t>(IBM explainer for RAG + LLM integration)</a:t>
            </a:r>
            <a:endParaRPr lang="en-IN" sz="2000" dirty="0"/>
          </a:p>
          <a:p>
            <a:pPr>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D86E9480-AE0D-8F00-984F-1C0F8F53C1EC}"/>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48F2A10B-67AA-AAE6-232F-CFA602CB53A9}"/>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C95F8CEF-91B5-DD0D-C876-1BFF8ED80FB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xmlns="" id="{8760EC5B-78FF-4D99-1A49-A2DD6DB4A36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00156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pic>
        <p:nvPicPr>
          <p:cNvPr id="3" name="Picture 2">
            <a:extLst>
              <a:ext uri="{FF2B5EF4-FFF2-40B4-BE49-F238E27FC236}">
                <a16:creationId xmlns:a16="http://schemas.microsoft.com/office/drawing/2014/main" xmlns="" id="{BA9DDD0D-7A91-1E4E-00BA-F7FF05ABF76F}"/>
              </a:ext>
            </a:extLst>
          </p:cNvPr>
          <p:cNvPicPr>
            <a:picLocks noChangeAspect="1"/>
          </p:cNvPicPr>
          <p:nvPr/>
        </p:nvPicPr>
        <p:blipFill>
          <a:blip r:embed="rId4"/>
          <a:stretch>
            <a:fillRect/>
          </a:stretch>
        </p:blipFill>
        <p:spPr>
          <a:xfrm>
            <a:off x="335797" y="6315517"/>
            <a:ext cx="11520407" cy="3100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1359</TotalTime>
  <Words>1370</Words>
  <Application>Microsoft Office PowerPoint</Application>
  <PresentationFormat>Widescreen</PresentationFormat>
  <Paragraphs>167</Paragraphs>
  <Slides>21</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Agentic AI Hackathon: Building Intelligent Agents with IBM Granite and LangFlow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Output screenshot 3</vt:lpstr>
      <vt:lpstr>Output screenshot 4</vt:lpstr>
      <vt:lpstr>Output screenshot 5</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Microsoft account</cp:lastModifiedBy>
  <cp:revision>128</cp:revision>
  <dcterms:created xsi:type="dcterms:W3CDTF">2025-07-08T05:06:56Z</dcterms:created>
  <dcterms:modified xsi:type="dcterms:W3CDTF">2026-02-01T16:19:14Z</dcterms:modified>
</cp:coreProperties>
</file>